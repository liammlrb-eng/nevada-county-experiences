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5C3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338328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400" b="1" i="0">
                <a:solidFill>
                  <a:srgbClr val="E8C96A"/>
                </a:solidFill>
                <a:latin typeface="Calibri"/>
              </a:rPr>
              <a:t>Western
Nevada
County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3383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  <a:latin typeface="Calibri"/>
              </a:rPr>
              <a:t>Experience Finder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743200"/>
            <a:ext cx="71323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5C3A1F"/>
                </a:solidFill>
                <a:latin typeface="Calibri"/>
              </a:rPr>
              <a:t>Visitor planning platform — county pitch deck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3291840"/>
            <a:ext cx="685800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3520440"/>
            <a:ext cx="713232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</a:rPr>
              <a:t>A purpose-built tourism platform combining 161 curated experiences with 460+ live-scraped events. Privacy-first, opt-in, no tracking.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5C3A1F"/>
                </a:solidFill>
                <a:latin typeface="Calibri"/>
              </a:rPr>
              <a:t>What this 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A5568"/>
                </a:solidFill>
                <a:latin typeface="Calibri"/>
              </a:rPr>
              <a:t>A tourism platform for Western Nevada County — Gold Country foothills.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1E1508"/>
                </a:solidFill>
                <a:latin typeface="Calibri"/>
              </a:rPr>
              <a:t>A purpose-built tourism platform for Western Nevada County — centered on Nevada City and Grass Valley, with full coverage of Penn Valley, North San Juan, Rough &amp; Ready, Washington, Chicago Park, Smartsville, and adjacent Colfax. The platform combines curated places with live-scraped events, so visitors discover what to do AND when it's actually happening.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00400"/>
            <a:ext cx="2606040" cy="1463040"/>
          </a:xfrm>
          <a:prstGeom prst="rect">
            <a:avLst/>
          </a:prstGeom>
          <a:solidFill>
            <a:srgbClr val="F5EFE2"/>
          </a:solidFill>
          <a:ln w="6350">
            <a:solidFill>
              <a:srgbClr val="D4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C9A84C"/>
                </a:solidFill>
                <a:latin typeface="Calibri"/>
              </a:rPr>
              <a:t>161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</a:rPr>
              <a:t>Curated experiences
across 11 communities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3200400"/>
            <a:ext cx="2606040" cy="1463040"/>
          </a:xfrm>
          <a:prstGeom prst="rect">
            <a:avLst/>
          </a:prstGeom>
          <a:solidFill>
            <a:srgbClr val="F5EFE2"/>
          </a:solidFill>
          <a:ln w="6350">
            <a:solidFill>
              <a:srgbClr val="D4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338328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C9A84C"/>
                </a:solidFill>
                <a:latin typeface="Calibri"/>
              </a:rPr>
              <a:t>460+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416052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</a:rPr>
              <a:t>Live events from
6 sources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200400"/>
            <a:ext cx="2606040" cy="1463040"/>
          </a:xfrm>
          <a:prstGeom prst="rect">
            <a:avLst/>
          </a:prstGeom>
          <a:solidFill>
            <a:srgbClr val="F5EFE2"/>
          </a:solidFill>
          <a:ln w="6350">
            <a:solidFill>
              <a:srgbClr val="D4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338328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C9A84C"/>
                </a:solidFill>
                <a:latin typeface="Calibri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16052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</a:rPr>
              <a:t>Themed vibes
for discovery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3200400"/>
            <a:ext cx="2606040" cy="1463040"/>
          </a:xfrm>
          <a:prstGeom prst="rect">
            <a:avLst/>
          </a:prstGeom>
          <a:solidFill>
            <a:srgbClr val="F5EFE2"/>
          </a:solidFill>
          <a:ln w="6350">
            <a:solidFill>
              <a:srgbClr val="D4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338328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C9A84C"/>
                </a:solidFill>
                <a:latin typeface="Calibri"/>
              </a:rPr>
              <a:t>$5–$20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416052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</a:rPr>
              <a:t>Typical
monthly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377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Geographic scope: Western Nevada County (Gold Country foothills) + adjacent Colfax.
Truckee and Sierra-side communities are out of scope for this build.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Western Nevada County Experience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2 / 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55664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5C3A1F"/>
                </a:solidFill>
                <a:latin typeface="Calibri"/>
              </a:rPr>
              <a:t>Who this serves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A5568"/>
                </a:solidFill>
                <a:latin typeface="Calibri"/>
              </a:rPr>
              <a:t>Nine visitor personas — each searches differently and converts on different content.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1. Romantic Weekender    —    Couples 35-65, Bay Area / Sac, B&amp;Bs + dining + wineries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2. Festival Pilgrim    —    Anchored to a specific event — Cornish Christmas, Wild &amp; Scenic, Bluegrass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3. Trail &amp; Lake Seeker    —    Hiking / biking / swimming / paddling — needs distance &amp; difficulty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4. Multi-Gen Family    —    Parents with kids 5-15 — "will my 8-year-old be bored?"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5. Arts &amp; Heritage Traveler    —    Substance over photos; reads notes; values authenticity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6. Wine Country Foodie    —    Napa-alternative — provenance, chef bios, tasting flights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7. Wellness Refugee    —    Float, massage, yoga, gardens — filtering for what's NOT there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8. Local "What's Up"    —    Residents — pure events feed, "what's on this weekend"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9. Maker Traveler  🎯    —    Travels for the workshop — Curious Forge anchors a destination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486400"/>
            <a:ext cx="11064240" cy="777240"/>
          </a:xfrm>
          <a:prstGeom prst="rect">
            <a:avLst/>
          </a:prstGeom>
          <a:solidFill>
            <a:srgbClr val="FBF7EE"/>
          </a:solidFill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532120"/>
            <a:ext cx="1088136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 i="0">
                <a:solidFill>
                  <a:srgbClr val="5C3A1F"/>
                </a:solidFill>
                <a:latin typeface="Calibri"/>
              </a:rPr>
              <a:t>Recommended marketing focus (over-serve four):  Maker Traveler  ·  Festival Pilgrim  ·  Romantic Weekender  ·  Foodie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Western Nevada County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3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55664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5C3A1F"/>
                </a:solidFill>
                <a:latin typeface="Calibri"/>
              </a:rPr>
              <a:t>How visitors discover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A5568"/>
                </a:solidFill>
                <a:latin typeface="Calibri"/>
              </a:rPr>
              <a:t>Multiple paths to "I found it" — works for browse-mode and date-mode visitors.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1064240" cy="384048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9718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5C3A1F"/>
                </a:solidFill>
                <a:latin typeface="Calibri"/>
              </a:rPr>
              <a:t>Discovery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40" y="1737360"/>
            <a:ext cx="7818119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5C3A1F"/>
                </a:solidFill>
                <a:latin typeface="Calibri"/>
              </a:rPr>
              <a:t>What it does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75688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12264"/>
            <a:ext cx="11064240" cy="50292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57984"/>
            <a:ext cx="2971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Themed vibes (9 cards)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157984"/>
            <a:ext cx="7818119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Historic · Arts · Hands-On · Foodie · Active · Relaxed · Wellness · Family · Festivals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60904"/>
            <a:ext cx="2971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Vibe-level pills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660904"/>
            <a:ext cx="7818119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Pick Foodie → narrow to Restaurants / Wineries / Markets / Bakeries / Food Events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18104"/>
            <a:ext cx="11064240" cy="50292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63824"/>
            <a:ext cx="2971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Category dropdown + sub-pills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3163824"/>
            <a:ext cx="7818119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Lodging → Hotels / B&amp;Bs / Glamping / Campgrounds / RV  (and more)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66744"/>
            <a:ext cx="2971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Activity tags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3666744"/>
            <a:ext cx="7818119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Hiking · Biking · Swimming · Fishing · Boating · Running on every relevant card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123944"/>
            <a:ext cx="11064240" cy="50292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69664"/>
            <a:ext cx="2971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Date 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4169664"/>
            <a:ext cx="7818119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All Future (default) · Today · Weekend · Week — auto-clears summer-only items in winter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672584"/>
            <a:ext cx="2971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Area filter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4672584"/>
            <a:ext cx="7818119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County-wide events show for any local area; city events filter normally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129784"/>
            <a:ext cx="11064240" cy="50292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175504"/>
            <a:ext cx="2971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Tag-aware Smart Suggestions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5175504"/>
            <a:ext cx="7818119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"More to Explore" panel in the itinerary — geographic + tag scoring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Western Nevada County Experience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4 / 14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455664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5C3A1F"/>
                </a:solidFill>
                <a:latin typeface="Calibri"/>
              </a:rPr>
              <a:t>Day-by-day itinerary builder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A5568"/>
                </a:solidFill>
                <a:latin typeface="Calibri"/>
              </a:rPr>
              <a:t>Visitors think in nights, not stops — the planner reflects that.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64008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Each day has its own card with a numbered header and calendar date</a:t>
            </a:r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Per-day "Tonight's Stay" lodging slot — empty slots prompt for booking</a:t>
            </a:r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Drag-free move-between-days dropdown on every item</a:t>
            </a:r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Add Day → returns visitor to browse mode for the new day</a:t>
            </a:r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Find Lodging button at top of itinerary jumps directly to lodging filter</a:t>
            </a:r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Events go INTO the itinerary first; the visitor decides what to commit to</a:t>
            </a:r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15-min add → opt-in save → survives tab close + browser restart</a:t>
            </a:r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Share link via native phone share sheet, email, text, or copy URL</a:t>
            </a:r>
          </a:p>
        </p:txBody>
      </p:sp>
      <p:sp>
        <p:nvSpPr>
          <p:cNvPr id="6" name="Rectangle 5"/>
          <p:cNvSpPr/>
          <p:nvPr/>
        </p:nvSpPr>
        <p:spPr>
          <a:xfrm>
            <a:off x="7223760" y="1691640"/>
            <a:ext cx="4389120" cy="4572000"/>
          </a:xfrm>
          <a:prstGeom prst="rect">
            <a:avLst/>
          </a:prstGeom>
          <a:solidFill>
            <a:srgbClr val="FBF7EE"/>
          </a:solidFill>
          <a:ln w="6350">
            <a:solidFill>
              <a:srgbClr val="D4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828800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2 stops · 2 days / 1 night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7452360" y="2240280"/>
            <a:ext cx="3931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2331720"/>
            <a:ext cx="3840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5C3A1F"/>
                </a:solidFill>
                <a:latin typeface="Calibri"/>
              </a:rPr>
              <a:t>DAY 1 of 2   Sat, Jun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697480"/>
            <a:ext cx="38404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💤 TONIGHT'S STAY
Holbrooke Hotel · Grass Valley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383280"/>
            <a:ext cx="38404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1.  Empire Mine State Historic Park
2.  Lola Restaurant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420624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4297680"/>
            <a:ext cx="3840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5C3A1F"/>
                </a:solidFill>
                <a:latin typeface="Calibri"/>
              </a:rPr>
              <a:t>DAY 2 of 2   Sun, Jun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4617720"/>
            <a:ext cx="3840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4A5568"/>
                </a:solidFill>
                <a:latin typeface="Calibri"/>
              </a:rPr>
              <a:t>💤  No lodging picked for tonight  →  [Find Lodging]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5074920"/>
            <a:ext cx="3840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C9A84C"/>
                </a:solidFill>
                <a:latin typeface="Calibri"/>
              </a:rPr>
              <a:t>📅  Father's Day Bluegrass — Sat 7:00 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Western Nevada County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5 / 14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55664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5C3A1F"/>
                </a:solidFill>
                <a:latin typeface="Calibri"/>
              </a:rPr>
              <a:t>Why it's easy to 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A5568"/>
                </a:solidFill>
                <a:latin typeface="Calibri"/>
              </a:rPr>
              <a:t>Friction points where most tourism sites lose visitors — and what we did instead.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1064240" cy="384048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5204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5C3A1F"/>
                </a:solidFill>
                <a:latin typeface="Calibri"/>
              </a:rPr>
              <a:t>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737360"/>
            <a:ext cx="7269479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5C3A1F"/>
                </a:solidFill>
                <a:latin typeface="Calibri"/>
              </a:rPr>
              <a:t>Why it matters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75688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12264"/>
            <a:ext cx="11064240" cy="384048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57984"/>
            <a:ext cx="3520440" cy="3383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Day-by-day with lodging anchor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157984"/>
            <a:ext cx="7269479" cy="3383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A flat list of stops hides the night question; structured days surface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42032"/>
            <a:ext cx="3520440" cy="3383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"Find Lodging" CTA + auto-clear vibes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542032"/>
            <a:ext cx="7269479" cy="3383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One-click jump to lodging that doesn't fight against active vibes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80360"/>
            <a:ext cx="11064240" cy="384048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26080"/>
            <a:ext cx="3520440" cy="3383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Add Day returns to browse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926080"/>
            <a:ext cx="7269479" cy="3383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No leaving visitor staring at empty days; flow continues naturally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310128"/>
            <a:ext cx="3520440" cy="3383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Events → itinerary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310128"/>
            <a:ext cx="7269479" cy="3383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No hijack to KVMR — visitor compares before clicking through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48456"/>
            <a:ext cx="11064240" cy="384048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694176"/>
            <a:ext cx="3520440" cy="3383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Direct × on cards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694176"/>
            <a:ext cx="7269479" cy="3383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No "Manage Mode" toggle; remove buttons always visible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078224"/>
            <a:ext cx="3520440" cy="3383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Vibe sub-pills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078224"/>
            <a:ext cx="7269479" cy="3383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Foodie → Restaurants/Markets/Wineries — granular without leaving the vibe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416552"/>
            <a:ext cx="11064240" cy="384048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462272"/>
            <a:ext cx="3520440" cy="3383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Calendar dates on day headers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462272"/>
            <a:ext cx="7269479" cy="3383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"DAY 1 · Sat, May 17" instead of abstract numbers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46320"/>
            <a:ext cx="3520440" cy="3383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Opt-in itinerary save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846320"/>
            <a:ext cx="7269479" cy="3383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Survives tab close + restart — no account, no email, explicit consent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184648"/>
            <a:ext cx="11064240" cy="384048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230368"/>
            <a:ext cx="3520440" cy="3383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Auto-season filtering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5230368"/>
            <a:ext cx="7269479" cy="3383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November visit hides summer-only experiences automatically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614416"/>
            <a:ext cx="3520440" cy="3383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Type-emoji event placeholders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5614416"/>
            <a:ext cx="7269479" cy="33832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126 events without posters now visually distinct by type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Western Nevada County Experience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6 / 14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455664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5C3A1F"/>
                </a:solidFill>
                <a:latin typeface="Calibri"/>
              </a:rPr>
              <a:t>Privacy posture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A5568"/>
                </a:solidFill>
                <a:latin typeface="Calibri"/>
              </a:rPr>
              <a:t>No tracking. No cookies. Visitors stay anonymous; the chamber gets credit for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C9A84C"/>
                </a:solidFill>
                <a:latin typeface="Calibri"/>
              </a:rPr>
              <a:t>• </a:t>
            </a:r>
            <a:r>
              <a:rPr sz="1300">
                <a:solidFill>
                  <a:srgbClr val="1E1508"/>
                </a:solidFill>
                <a:latin typeface="Calibri"/>
              </a:rPr>
              <a:t>No analytics, no cookies, no third-party trackers by default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500" b="1">
                <a:solidFill>
                  <a:srgbClr val="C9A84C"/>
                </a:solidFill>
                <a:latin typeface="Calibri"/>
              </a:rPr>
              <a:t>• </a:t>
            </a:r>
            <a:r>
              <a:rPr sz="1300">
                <a:solidFill>
                  <a:srgbClr val="1E1508"/>
                </a:solidFill>
                <a:latin typeface="Calibri"/>
              </a:rPr>
              <a:t>Itinerary save is opt-in only — explicit consent banner on first add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500" b="1">
                <a:solidFill>
                  <a:srgbClr val="C9A84C"/>
                </a:solidFill>
                <a:latin typeface="Calibri"/>
              </a:rPr>
              <a:t>• </a:t>
            </a:r>
            <a:r>
              <a:rPr sz="1300">
                <a:solidFill>
                  <a:srgbClr val="1E1508"/>
                </a:solidFill>
                <a:latin typeface="Calibri"/>
              </a:rPr>
              <a:t>"Forget on this device" link revokes consent and wipes saved data anytime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500" b="1">
                <a:solidFill>
                  <a:srgbClr val="C9A84C"/>
                </a:solidFill>
                <a:latin typeface="Calibri"/>
              </a:rPr>
              <a:t>• </a:t>
            </a:r>
            <a:r>
              <a:rPr sz="1300">
                <a:solidFill>
                  <a:srgbClr val="1E1508"/>
                </a:solidFill>
                <a:latin typeface="Calibri"/>
              </a:rPr>
              <a:t>Share-link URL works without any consent — purely a URL fragment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500" b="1">
                <a:solidFill>
                  <a:srgbClr val="C9A84C"/>
                </a:solidFill>
                <a:latin typeface="Calibri"/>
              </a:rPr>
              <a:t>• </a:t>
            </a:r>
            <a:r>
              <a:rPr sz="1300">
                <a:solidFill>
                  <a:srgbClr val="1E1508"/>
                </a:solidFill>
                <a:latin typeface="Calibri"/>
              </a:rPr>
              <a:t>No account / sign-up / email required to plan a full trip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500" b="1">
                <a:solidFill>
                  <a:srgbClr val="C9A84C"/>
                </a:solidFill>
                <a:latin typeface="Calibri"/>
              </a:rPr>
              <a:t>• </a:t>
            </a:r>
            <a:r>
              <a:rPr sz="1300">
                <a:solidFill>
                  <a:srgbClr val="1E1508"/>
                </a:solidFill>
                <a:latin typeface="Calibri"/>
              </a:rPr>
              <a:t>Chamber sees zero personal information about visitors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500" b="1">
                <a:solidFill>
                  <a:srgbClr val="C9A84C"/>
                </a:solidFill>
                <a:latin typeface="Calibri"/>
              </a:rPr>
              <a:t>• </a:t>
            </a:r>
            <a:r>
              <a:rPr sz="1300">
                <a:solidFill>
                  <a:srgbClr val="1E1508"/>
                </a:solidFill>
                <a:latin typeface="Calibri"/>
              </a:rPr>
              <a:t>No GDPR / CCPA banners required (because nothing is collected)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500" b="1">
                <a:solidFill>
                  <a:srgbClr val="C9A84C"/>
                </a:solidFill>
                <a:latin typeface="Calibri"/>
              </a:rPr>
              <a:t>• </a:t>
            </a:r>
            <a:r>
              <a:rPr sz="1300">
                <a:solidFill>
                  <a:srgbClr val="1E1508"/>
                </a:solidFill>
                <a:latin typeface="Calibri"/>
              </a:rPr>
              <a:t>No privacy review, no consent-platform fees, no compliance overhead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486400"/>
            <a:ext cx="11064240" cy="777240"/>
          </a:xfrm>
          <a:prstGeom prst="rect">
            <a:avLst/>
          </a:prstGeom>
          <a:solidFill>
            <a:srgbClr val="FBF7EE"/>
          </a:solidFill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532120"/>
            <a:ext cx="1088136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0" i="1">
                <a:solidFill>
                  <a:srgbClr val="5C3A1F"/>
                </a:solidFill>
                <a:latin typeface="Calibri"/>
              </a:rPr>
              <a:t>"Visitors stay anonymous; the chamber gets credit for respecting them."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Western Nevada County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7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55664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5C3A1F"/>
                </a:solidFill>
                <a:latin typeface="Calibri"/>
              </a:rPr>
              <a:t>Behind the scenes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A5568"/>
                </a:solidFill>
                <a:latin typeface="Calibri"/>
              </a:rPr>
              <a:t>Chamber-staff operations: live data with minimal effort.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1">
                <a:solidFill>
                  <a:srgbClr val="C9A84C"/>
                </a:solidFill>
                <a:latin typeface="Calibri"/>
              </a:rPr>
              <a:t>• </a:t>
            </a:r>
            <a:r>
              <a:rPr sz="1300">
                <a:solidFill>
                  <a:srgbClr val="1E1508"/>
                </a:solidFill>
                <a:latin typeface="Calibri"/>
              </a:rPr>
              <a:t>🔄 One-click scraper updates from KVMR, Eventbrite, NC Chamber, GV Chamber, Go Nevada, The Union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500" b="1">
                <a:solidFill>
                  <a:srgbClr val="C9A84C"/>
                </a:solidFill>
                <a:latin typeface="Calibri"/>
              </a:rPr>
              <a:t>• </a:t>
            </a:r>
            <a:r>
              <a:rPr sz="1300">
                <a:solidFill>
                  <a:srgbClr val="1E1508"/>
                </a:solidFill>
                <a:latin typeface="Calibri"/>
              </a:rPr>
              <a:t>✅ Approve / dismiss events in a queue; bulk-approve is one click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500" b="1">
                <a:solidFill>
                  <a:srgbClr val="C9A84C"/>
                </a:solidFill>
                <a:latin typeface="Calibri"/>
              </a:rPr>
              <a:t>• </a:t>
            </a:r>
            <a:r>
              <a:rPr sz="1300">
                <a:solidFill>
                  <a:srgbClr val="1E1508"/>
                </a:solidFill>
                <a:latin typeface="Calibri"/>
              </a:rPr>
              <a:t>🤖 AI Categorize button (Claude Haiku) — refines area, venue, tags, quality (~$0.20 per full run)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500" b="1">
                <a:solidFill>
                  <a:srgbClr val="C9A84C"/>
                </a:solidFill>
                <a:latin typeface="Calibri"/>
              </a:rPr>
              <a:t>• </a:t>
            </a:r>
            <a:r>
              <a:rPr sz="1300">
                <a:solidFill>
                  <a:srgbClr val="1E1508"/>
                </a:solidFill>
                <a:latin typeface="Calibri"/>
              </a:rPr>
              <a:t>✏️ Inline-editable experience table — anyone who can edit a spreadsheet can maintain it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500" b="1">
                <a:solidFill>
                  <a:srgbClr val="C9A84C"/>
                </a:solidFill>
                <a:latin typeface="Calibri"/>
              </a:rPr>
              <a:t>• </a:t>
            </a:r>
            <a:r>
              <a:rPr sz="1300">
                <a:solidFill>
                  <a:srgbClr val="1E1508"/>
                </a:solidFill>
                <a:latin typeface="Calibri"/>
              </a:rPr>
              <a:t>🏷 Tag taxonomy editor — add/rename/delete tags without code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500" b="1">
                <a:solidFill>
                  <a:srgbClr val="C9A84C"/>
                </a:solidFill>
                <a:latin typeface="Calibri"/>
              </a:rPr>
              <a:t>• </a:t>
            </a:r>
            <a:r>
              <a:rPr sz="1300">
                <a:solidFill>
                  <a:srgbClr val="1E1508"/>
                </a:solidFill>
                <a:latin typeface="Calibri"/>
              </a:rPr>
              <a:t>🔗 Source URL management — add a new scraper feed by pasting a URL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500" b="1">
                <a:solidFill>
                  <a:srgbClr val="C9A84C"/>
                </a:solidFill>
                <a:latin typeface="Calibri"/>
              </a:rPr>
              <a:t>• </a:t>
            </a:r>
            <a:r>
              <a:rPr sz="1300">
                <a:solidFill>
                  <a:srgbClr val="1E1508"/>
                </a:solidFill>
                <a:latin typeface="Calibri"/>
              </a:rPr>
              <a:t>📅 Auto-prune past events; auto-dismiss internal admin meetings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500" b="1">
                <a:solidFill>
                  <a:srgbClr val="C9A84C"/>
                </a:solidFill>
                <a:latin typeface="Calibri"/>
              </a:rPr>
              <a:t>• </a:t>
            </a:r>
            <a:r>
              <a:rPr sz="1300">
                <a:solidFill>
                  <a:srgbClr val="1E1508"/>
                </a:solidFill>
                <a:latin typeface="Calibri"/>
              </a:rPr>
              <a:t>🌐 Public RSS feed at /feed.rss — partners republish without integration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Western Nevada County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8 /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5C3A1F"/>
                </a:solidFill>
                <a:latin typeface="Calibri"/>
              </a:rPr>
              <a:t>AI-powered tag refinement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A5568"/>
                </a:solidFill>
                <a:latin typeface="Calibri"/>
              </a:rPr>
              <a:t>Claude Haiku adds intelligence where keyword rules stop short — at trivial cost.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What it fixes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4864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C9A84C"/>
                </a:solidFill>
                <a:latin typeface="Calibri"/>
              </a:rPr>
              <a:t>• </a:t>
            </a:r>
            <a:r>
              <a:rPr sz="1100">
                <a:solidFill>
                  <a:srgbClr val="1E1508"/>
                </a:solidFill>
                <a:latin typeface="Calibri"/>
              </a:rPr>
              <a:t>444 of 460 KVMR events tagged "Nevada County" → infers actual community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300" b="1">
                <a:solidFill>
                  <a:srgbClr val="C9A84C"/>
                </a:solidFill>
                <a:latin typeface="Calibri"/>
              </a:rPr>
              <a:t>• </a:t>
            </a:r>
            <a:r>
              <a:rPr sz="1100">
                <a:solidFill>
                  <a:srgbClr val="1E1508"/>
                </a:solidFill>
                <a:latin typeface="Calibri"/>
              </a:rPr>
              <a:t>Empty location field on most KVMR events → extracts venue name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300" b="1">
                <a:solidFill>
                  <a:srgbClr val="C9A84C"/>
                </a:solidFill>
                <a:latin typeface="Calibri"/>
              </a:rPr>
              <a:t>• </a:t>
            </a:r>
            <a:r>
              <a:rPr sz="1100">
                <a:solidFill>
                  <a:srgbClr val="1E1508"/>
                </a:solidFill>
                <a:latin typeface="Calibri"/>
              </a:rPr>
              <a:t>"Center for the Arts" → Grass Valley; "Miners Foundry" → Nevada City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300" b="1">
                <a:solidFill>
                  <a:srgbClr val="C9A84C"/>
                </a:solidFill>
                <a:latin typeface="Calibri"/>
              </a:rPr>
              <a:t>• </a:t>
            </a:r>
            <a:r>
              <a:rPr sz="1100">
                <a:solidFill>
                  <a:srgbClr val="1E1508"/>
                </a:solidFill>
                <a:latin typeface="Calibri"/>
              </a:rPr>
              <a:t>Cluttered descriptions → clean one-line summaries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300" b="1">
                <a:solidFill>
                  <a:srgbClr val="C9A84C"/>
                </a:solidFill>
                <a:latin typeface="Calibri"/>
              </a:rPr>
              <a:t>• </a:t>
            </a:r>
            <a:r>
              <a:rPr sz="1100">
                <a:solidFill>
                  <a:srgbClr val="1E1508"/>
                </a:solidFill>
                <a:latin typeface="Calibri"/>
              </a:rPr>
              <a:t>Truckee / Sierra-side events flagged "low quality" → auto-hidden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300" b="1">
                <a:solidFill>
                  <a:srgbClr val="C9A84C"/>
                </a:solidFill>
                <a:latin typeface="Calibri"/>
              </a:rPr>
              <a:t>• </a:t>
            </a:r>
            <a:r>
              <a:rPr sz="1100">
                <a:solidFill>
                  <a:srgbClr val="1E1508"/>
                </a:solidFill>
                <a:latin typeface="Calibri"/>
              </a:rPr>
              <a:t>Future scrapes auto-categorize new events with the same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91640"/>
            <a:ext cx="50292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Cost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4937760" cy="384048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2606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5C3A1F"/>
                </a:solidFill>
                <a:latin typeface="Calibri"/>
              </a:rPr>
              <a:t>Run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148840"/>
            <a:ext cx="20574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5C3A1F"/>
                </a:solidFill>
                <a:latin typeface="Calibri"/>
              </a:rPr>
              <a:t>Monthly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87168"/>
            <a:ext cx="493776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523744"/>
            <a:ext cx="4937760" cy="41148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69464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First-time bulk (460 events)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569464"/>
            <a:ext cx="2057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~$0.30 once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944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Daily scrape + categorize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980944"/>
            <a:ext cx="2057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$0.30 – $0.60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46704"/>
            <a:ext cx="4937760" cy="41148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92424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Weekly scrape + categorize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392424"/>
            <a:ext cx="2057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$0.16 – $0.52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03904"/>
            <a:ext cx="2606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Realistic chamber operation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803904"/>
            <a:ext cx="2057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~$0.50 – $1.00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solidFill>
            <a:srgbClr val="FBF7EE"/>
          </a:solidFill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5C3A1F"/>
                </a:solidFill>
                <a:latin typeface="Calibri"/>
              </a:rPr>
              <a:t>Hard $5/month spending cap settable in Anthropic console — cannot be exceeded.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Western Nevada County Experience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9 / 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55664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5C3A1F"/>
                </a:solidFill>
                <a:latin typeface="Calibri"/>
              </a:rPr>
              <a:t>What it costs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A5568"/>
                </a:solidFill>
                <a:latin typeface="Calibri"/>
              </a:rPr>
              <a:t>Three operating scenarios for the first year of operation.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2606040" cy="1554480"/>
          </a:xfrm>
          <a:prstGeom prst="rect">
            <a:avLst/>
          </a:prstGeom>
          <a:solidFill>
            <a:srgbClr val="F5EFE2"/>
          </a:solidFill>
          <a:ln w="6350">
            <a:solidFill>
              <a:srgbClr val="D4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2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C9A84C"/>
                </a:solidFill>
                <a:latin typeface="Calibri"/>
              </a:rPr>
              <a:t>$0–$50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</a:rPr>
              <a:t>LEAN
Free hosting + AI off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691640"/>
            <a:ext cx="2606040" cy="1554480"/>
          </a:xfrm>
          <a:prstGeom prst="rect">
            <a:avLst/>
          </a:prstGeom>
          <a:solidFill>
            <a:srgbClr val="F5EFE2"/>
          </a:solidFill>
          <a:ln w="6350">
            <a:solidFill>
              <a:srgbClr val="D4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87452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C9A84C"/>
                </a:solidFill>
                <a:latin typeface="Calibri"/>
              </a:rPr>
              <a:t>$80–$150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65176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</a:rPr>
              <a:t>TYPICAL
$5/mo VPS + weekly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691640"/>
            <a:ext cx="2606040" cy="1554480"/>
          </a:xfrm>
          <a:prstGeom prst="rect">
            <a:avLst/>
          </a:prstGeom>
          <a:solidFill>
            <a:srgbClr val="F5EFE2"/>
          </a:solidFill>
          <a:ln w="6350">
            <a:solidFill>
              <a:srgbClr val="D4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87452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C9A84C"/>
                </a:solidFill>
                <a:latin typeface="Calibri"/>
              </a:rPr>
              <a:t>$300–$500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65176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</a:rPr>
              <a:t>PREMIUM
Managed + daily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1691640"/>
            <a:ext cx="2606040" cy="1554480"/>
          </a:xfrm>
          <a:prstGeom prst="rect">
            <a:avLst/>
          </a:prstGeom>
          <a:solidFill>
            <a:srgbClr val="F5EFE2"/>
          </a:solidFill>
          <a:ln w="6350">
            <a:solidFill>
              <a:srgbClr val="D4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187452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C9A84C"/>
                </a:solidFill>
                <a:latin typeface="Calibri"/>
              </a:rPr>
              <a:t>$5K–$30K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65176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  <a:latin typeface="Calibri"/>
              </a:rPr>
              <a:t>COMMERCIAL ALT.
CrowdRiff / Simpleview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20440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What's NOT a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106424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Per-listing fees — every chamber member free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Per-event fees — scrapers cost zero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Per-visitor fees — traffic 10× has no impact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Vendor termination fees — owned outright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Privacy compliance overhead — nothing collected to comply about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License fees — fully open-source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Western Nevada County Experience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10 / 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55664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5C3A1F"/>
                </a:solidFill>
                <a:latin typeface="Calibri"/>
              </a:rPr>
              <a:t>Migration to a county server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A5568"/>
                </a:solidFill>
                <a:latin typeface="Calibri"/>
              </a:rPr>
              <a:t>One focused half-day for someone comfortable with Linux; two days for a learner.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1064240" cy="384048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3258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5C3A1F"/>
                </a:solidFill>
                <a:latin typeface="Calibri"/>
              </a:rPr>
              <a:t>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737360"/>
            <a:ext cx="94640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5C3A1F"/>
                </a:solidFill>
                <a:latin typeface="Calibri"/>
              </a:rPr>
              <a:t>What happens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75688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12264"/>
            <a:ext cx="11064240" cy="36576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57984"/>
            <a:ext cx="1325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Phase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157984"/>
            <a:ext cx="9464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Decisions: hosting (DigitalOcean $6/mo recommended), domain, OS, server account ownership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23744"/>
            <a:ext cx="1325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523744"/>
            <a:ext cx="9464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Pre-flight: domain registered, DNS access, SSH keys ready, Anthropic API key generated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43784"/>
            <a:ext cx="11064240" cy="36576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89504"/>
            <a:ext cx="1325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889504"/>
            <a:ext cx="9464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Provision: $6/mo Ubuntu droplet, lockdown SSH, install Python + nginx + chromium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55264"/>
            <a:ext cx="1325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255264"/>
            <a:ext cx="9464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Deploy: git clone, Python venv, install deps, drop API keys in scraper/config.py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75304"/>
            <a:ext cx="11064240" cy="36576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621024"/>
            <a:ext cx="1325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Phase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621024"/>
            <a:ext cx="9464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systemd service for auto-restart on crash, auto-start on reboot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986784"/>
            <a:ext cx="1325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Phase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986784"/>
            <a:ext cx="9464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nginx reverse proxy + Let's Encrypt HTTPS (auto-renew via certbot)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306824"/>
            <a:ext cx="11064240" cy="36576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352544"/>
            <a:ext cx="1325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Phase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4352544"/>
            <a:ext cx="9464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Cron job: nightly scrape at 3 AM + AI categorize at 3:30 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718304"/>
            <a:ext cx="1325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Phase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4718304"/>
            <a:ext cx="9464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Backups: provider snapshots ($1/mo) + daily JSON tar to off-site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038344"/>
            <a:ext cx="11064240" cy="36576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084064"/>
            <a:ext cx="1325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Phase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5084064"/>
            <a:ext cx="9464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Test checklist: site loads, vibes work, events populate, AI button works, scraper runs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449824"/>
            <a:ext cx="13258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Phase 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5449824"/>
            <a:ext cx="94640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1E1508"/>
                </a:solidFill>
                <a:latin typeface="Calibri"/>
              </a:rPr>
              <a:t>Hand-off to chamber: admin URL, billing alerts, cheat sheet, emergency contact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Western Nevada County Experience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11 / 14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455664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5C3A1F"/>
                </a:solidFill>
                <a:latin typeface="Calibri"/>
              </a:rPr>
              <a:t>The strategic insight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A5568"/>
                </a:solidFill>
                <a:latin typeface="Calibri"/>
              </a:rPr>
              <a:t>What sets this apart from a generic tourism site.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0">
                <a:solidFill>
                  <a:srgbClr val="1E1508"/>
                </a:solidFill>
                <a:latin typeface="Calibri"/>
              </a:rPr>
              <a:t>Most tourism sites optimize for visits to the site. The right metric is lodging bookings driven by the site. Those are different optimization targets.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97480"/>
            <a:ext cx="1106424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Day-by-day itinerary view structurally surfaces the "where do I sleep?" question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"Find Lodging" CTA at the top of every itinerary — booking always one click away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Empty lodging slots create a visual gap that drives the booking decision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New items default to the latest day — no day-1 pile-up; trip naturally fills out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Print view goes long-form per day — visitors who print, follow it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400" b="1">
                <a:solidFill>
                  <a:srgbClr val="C9A84C"/>
                </a:solidFill>
                <a:latin typeface="Calibri"/>
              </a:rPr>
              <a:t>• </a:t>
            </a:r>
            <a:r>
              <a:rPr sz="1200">
                <a:solidFill>
                  <a:srgbClr val="1E1508"/>
                </a:solidFill>
                <a:latin typeface="Calibri"/>
              </a:rPr>
              <a:t>Smart suggestions are tag + geography aware — clusters keep visitors close to lodging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solidFill>
            <a:srgbClr val="FBF7EE"/>
          </a:solidFill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 i="1">
                <a:solidFill>
                  <a:srgbClr val="5C3A1F"/>
                </a:solidFill>
                <a:latin typeface="Calibri"/>
              </a:rPr>
              <a:t>"Convince a visitor to add one more night and you double or triple local revenue."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Western Nevada County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12 / 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55664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5C3A1F"/>
                </a:solidFill>
                <a:latin typeface="Calibri"/>
              </a:rPr>
              <a:t>The 8-minute demo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78992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4A5568"/>
                </a:solidFill>
                <a:latin typeface="Calibri"/>
              </a:rPr>
              <a:t>A visitor planning a romantic November weekend in Western Nevada County.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1064240" cy="384048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6916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5C3A1F"/>
                </a:solidFill>
                <a:latin typeface="Calibri"/>
              </a:rPr>
              <a:t>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737360"/>
            <a:ext cx="90982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5C3A1F"/>
                </a:solidFill>
                <a:latin typeface="Calibri"/>
              </a:rPr>
              <a:t>What happens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75688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12264"/>
            <a:ext cx="11064240" cy="77724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57984"/>
            <a:ext cx="1691640" cy="73151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E1508"/>
                </a:solidFill>
                <a:latin typeface="Calibri"/>
              </a:rPr>
              <a:t>Act 1 · 2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157984"/>
            <a:ext cx="9098280" cy="73151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E1508"/>
                </a:solidFill>
                <a:latin typeface="Calibri"/>
              </a:rPr>
              <a:t>Set the scene — couple from Sacramento, click "This Weekend" + Festivals vibe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35224"/>
            <a:ext cx="1691640" cy="73151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E1508"/>
                </a:solidFill>
                <a:latin typeface="Calibri"/>
              </a:rPr>
              <a:t>Act 2 · 90 sec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935224"/>
            <a:ext cx="9098280" cy="73151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E1508"/>
                </a:solidFill>
                <a:latin typeface="Calibri"/>
              </a:rPr>
              <a:t>Layer in Relaxed vibe + Lodging category + B&amp;B sub-pill — real Victorian B&amp;Bs surface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66744"/>
            <a:ext cx="11064240" cy="77724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12464"/>
            <a:ext cx="1691640" cy="73151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E1508"/>
                </a:solidFill>
                <a:latin typeface="Calibri"/>
              </a:rPr>
              <a:t>Act 3 · 2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712464"/>
            <a:ext cx="9098280" cy="73151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E1508"/>
                </a:solidFill>
                <a:latin typeface="Calibri"/>
              </a:rPr>
              <a:t>Build the weekend — Cornish Christmas + Holbrooke Hotel + Empire Mine + Lola Restaurant. Open My Itinerary — Smart Suggestions appear with "0.4 mi away" labels. Map view + Print + Share link.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89704"/>
            <a:ext cx="1691640" cy="73151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E1508"/>
                </a:solidFill>
                <a:latin typeface="Calibri"/>
              </a:rPr>
              <a:t>Act 4 · 90 sec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489704"/>
            <a:ext cx="9098280" cy="73151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E1508"/>
                </a:solidFill>
                <a:latin typeface="Calibri"/>
              </a:rPr>
              <a:t>Behind the scenes — admin Events Queue, Approve All, AI Categorize button, Scraper Sources tab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221224"/>
            <a:ext cx="11064240" cy="777240"/>
          </a:xfrm>
          <a:prstGeom prst="rect">
            <a:avLst/>
          </a:prstGeom>
          <a:solidFill>
            <a:srgbClr val="FB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266944"/>
            <a:ext cx="1691640" cy="73151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E1508"/>
                </a:solidFill>
                <a:latin typeface="Calibri"/>
              </a:rPr>
              <a:t>Act 5 · 60 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5266944"/>
            <a:ext cx="9098280" cy="73151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E1508"/>
                </a:solidFill>
                <a:latin typeface="Calibri"/>
              </a:rPr>
              <a:t>Close the value props — time saved, local visibility, privacy, no vendor lock-in, AI integration, low maintenance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Western Nevada County Experience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13 / 14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455664"/>
            <a:ext cx="1106424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5C3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33832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400" b="1" i="0">
                <a:solidFill>
                  <a:srgbClr val="E8C96A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338328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194560"/>
            <a:ext cx="7132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The leave-behind one-liner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2606040"/>
            <a:ext cx="685800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788920"/>
            <a:ext cx="713232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5C3A1F"/>
                </a:solidFill>
                <a:latin typeface="Calibri"/>
              </a:rPr>
              <a:t>"This isn't a website — it's a planning workspace for visitors and a living directory for the chamber, with AI-assisted curation built in. Privacy-respecting by default, owned by the county outright, maintained in minutes per week."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5120640"/>
            <a:ext cx="713232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onsolas"/>
              </a:rPr>
              <a:t>Live demo:  liammlrb-eng.github.io/nevada-county-experiences
Repo:       github.com/liammlrb-eng/nevada-county-experiences
Pitch deck: demo_pitch.pdf  ·  Operator guide: operator_guide.pdf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