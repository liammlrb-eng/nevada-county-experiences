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4A2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73152" cy="6858000"/>
          </a:xfrm>
          <a:prstGeom prst="rect">
            <a:avLst/>
          </a:prstGeom>
          <a:solidFill>
            <a:srgbClr val="B89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3383280" cy="2286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5720" b="1" i="0">
                <a:solidFill>
                  <a:srgbClr val="E8C96A"/>
                </a:solidFill>
                <a:latin typeface="Calibri"/>
              </a:rPr>
              <a:t>Western
Nevada
County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0"/>
            <a:ext cx="33832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860" b="0" i="1">
                <a:solidFill>
                  <a:srgbClr val="FFFFFF"/>
                </a:solidFill>
                <a:latin typeface="Calibri"/>
              </a:rPr>
              <a:t>Experience Finder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743200"/>
            <a:ext cx="71323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4A2D18"/>
                </a:solidFill>
                <a:latin typeface="Calibri"/>
              </a:rPr>
              <a:t>Visitor planning platform — county pitch deck</a:t>
            </a:r>
          </a:p>
        </p:txBody>
      </p:sp>
      <p:sp>
        <p:nvSpPr>
          <p:cNvPr id="7" name="Rectangle 6"/>
          <p:cNvSpPr/>
          <p:nvPr/>
        </p:nvSpPr>
        <p:spPr>
          <a:xfrm>
            <a:off x="4480560" y="3291840"/>
            <a:ext cx="6858000" cy="25400"/>
          </a:xfrm>
          <a:prstGeom prst="rect">
            <a:avLst/>
          </a:prstGeom>
          <a:solidFill>
            <a:srgbClr val="B89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3520440"/>
            <a:ext cx="7132320" cy="2286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0">
                <a:solidFill>
                  <a:srgbClr val="2D3748"/>
                </a:solidFill>
                <a:latin typeface="Calibri"/>
              </a:rPr>
              <a:t>A purpose-built tourism platform combining 161 curated experiences with 460+ live local events. Privacy-first, opt-in, no tracking.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4A2D18"/>
                </a:solidFill>
                <a:latin typeface="Calibri"/>
              </a:rPr>
              <a:t>The strategic insight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B89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2D3748"/>
                </a:solidFill>
                <a:latin typeface="Calibri"/>
              </a:rPr>
              <a:t>What sets this apart from a generic tourism site.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950" b="0" i="0">
                <a:solidFill>
                  <a:srgbClr val="1E1508"/>
                </a:solidFill>
                <a:latin typeface="Calibri"/>
              </a:rPr>
              <a:t>Most tourism sites optimize for visits to the site. The right metric is lodging bookings driven by the site. Those are different optimization targets.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11064240" cy="3200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</a:pPr>
            <a:r>
              <a:rPr sz="1690" b="1">
                <a:solidFill>
                  <a:srgbClr val="B8941A"/>
                </a:solidFill>
                <a:latin typeface="Calibri"/>
              </a:rPr>
              <a:t>• </a:t>
            </a:r>
            <a:r>
              <a:rPr sz="1430">
                <a:solidFill>
                  <a:srgbClr val="1E1508"/>
                </a:solidFill>
                <a:latin typeface="Calibri"/>
              </a:rPr>
              <a:t>Day-by-day itinerary view structurally surfaces the "where do I sleep?" question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170" i="1">
                <a:solidFill>
                  <a:srgbClr val="4A2D18"/>
                </a:solidFill>
                <a:latin typeface="Calibri"/>
              </a:rPr>
              <a:t>       ↳  Visitor sees Day 2 has no hotel and books one before leaving the page.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690" b="1">
                <a:solidFill>
                  <a:srgbClr val="B8941A"/>
                </a:solidFill>
                <a:latin typeface="Calibri"/>
              </a:rPr>
              <a:t>• </a:t>
            </a:r>
            <a:r>
              <a:rPr sz="1430">
                <a:solidFill>
                  <a:srgbClr val="1E1508"/>
                </a:solidFill>
                <a:latin typeface="Calibri"/>
              </a:rPr>
              <a:t>"Find Lodging" CTA at the top of every itinerary — booking always one click away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170" i="1">
                <a:solidFill>
                  <a:srgbClr val="4A2D18"/>
                </a:solidFill>
                <a:latin typeface="Calibri"/>
              </a:rPr>
              <a:t>       ↳  No hunting for a button — booking decision is visible on every itinerary view.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690" b="1">
                <a:solidFill>
                  <a:srgbClr val="B8941A"/>
                </a:solidFill>
                <a:latin typeface="Calibri"/>
              </a:rPr>
              <a:t>• </a:t>
            </a:r>
            <a:r>
              <a:rPr sz="1430">
                <a:solidFill>
                  <a:srgbClr val="1E1508"/>
                </a:solidFill>
                <a:latin typeface="Calibri"/>
              </a:rPr>
              <a:t>Empty lodging slots create a visual gap that drives the booking decision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170" i="1">
                <a:solidFill>
                  <a:srgbClr val="4A2D18"/>
                </a:solidFill>
                <a:latin typeface="Calibri"/>
              </a:rPr>
              <a:t>       ↳  That blank Day 2 stay tile is psychologically jarring; the visitor fills it.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690" b="1">
                <a:solidFill>
                  <a:srgbClr val="B8941A"/>
                </a:solidFill>
                <a:latin typeface="Calibri"/>
              </a:rPr>
              <a:t>• </a:t>
            </a:r>
            <a:r>
              <a:rPr sz="1430">
                <a:solidFill>
                  <a:srgbClr val="1E1508"/>
                </a:solidFill>
                <a:latin typeface="Calibri"/>
              </a:rPr>
              <a:t>New items default to the latest day — no day-1 pile-up; trip naturally fills out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170" i="1">
                <a:solidFill>
                  <a:srgbClr val="4A2D18"/>
                </a:solidFill>
                <a:latin typeface="Calibri"/>
              </a:rPr>
              <a:t>       ↳  Adding stops naturally extends the trip rather than cramming Day 1.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690" b="1">
                <a:solidFill>
                  <a:srgbClr val="B8941A"/>
                </a:solidFill>
                <a:latin typeface="Calibri"/>
              </a:rPr>
              <a:t>• </a:t>
            </a:r>
            <a:r>
              <a:rPr sz="1430">
                <a:solidFill>
                  <a:srgbClr val="1E1508"/>
                </a:solidFill>
                <a:latin typeface="Calibri"/>
              </a:rPr>
              <a:t>Print view goes long-form per day — visitors who print, follow it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170" i="1">
                <a:solidFill>
                  <a:srgbClr val="4A2D18"/>
                </a:solidFill>
                <a:latin typeface="Calibri"/>
              </a:rPr>
              <a:t>       ↳  Couple prints the itinerary; the same Day 1 / Day 2 structure follows on paper.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690" b="1">
                <a:solidFill>
                  <a:srgbClr val="B8941A"/>
                </a:solidFill>
                <a:latin typeface="Calibri"/>
              </a:rPr>
              <a:t>• </a:t>
            </a:r>
            <a:r>
              <a:rPr sz="1430">
                <a:solidFill>
                  <a:srgbClr val="1E1508"/>
                </a:solidFill>
                <a:latin typeface="Calibri"/>
              </a:rPr>
              <a:t>Smart suggestions are tag + geography aware — clusters keep visitors close to lodging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170" i="1">
                <a:solidFill>
                  <a:srgbClr val="4A2D18"/>
                </a:solidFill>
                <a:latin typeface="Calibri"/>
              </a:rPr>
              <a:t>       ↳  After Holbrooke Hotel goes in, suggestions cluster around Mill Street.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64240" cy="640080"/>
          </a:xfrm>
          <a:prstGeom prst="rect">
            <a:avLst/>
          </a:prstGeom>
          <a:solidFill>
            <a:srgbClr val="FBF7EE"/>
          </a:solidFill>
          <a:ln w="6350">
            <a:solidFill>
              <a:srgbClr val="B894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715000"/>
            <a:ext cx="1088136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690" b="0" i="1">
                <a:solidFill>
                  <a:srgbClr val="4A2D18"/>
                </a:solidFill>
                <a:latin typeface="Calibri"/>
              </a:rPr>
              <a:t>"Convince a visitor to add one more night and you double or triple local revenue."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2D374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2D3748"/>
                </a:solidFill>
                <a:latin typeface="Calibri"/>
              </a:rPr>
              <a:t>2 / 14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B89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4A2D18"/>
                </a:solidFill>
                <a:latin typeface="Calibri"/>
              </a:rPr>
              <a:t>What this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B89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2D3748"/>
                </a:solidFill>
                <a:latin typeface="Calibri"/>
              </a:rPr>
              <a:t>A tourism platform for Western Nevada County — Gold Country foothills.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10642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90" b="0" i="0">
                <a:solidFill>
                  <a:srgbClr val="1E1508"/>
                </a:solidFill>
                <a:latin typeface="Calibri"/>
              </a:rPr>
              <a:t>A purpose-built tourism platform for Western Nevada County — centered on Nevada City and Grass Valley, with full coverage of Penn Valley, North San Juan, Rough &amp; Ready, Washington, Chicago Park, Smartsville, and adjacent Colfax. The platform combines curated places with live local events, so visitors discover what to do AND when it's actually happening.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200400"/>
            <a:ext cx="2606040" cy="146304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38328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5720" b="1" i="0">
                <a:solidFill>
                  <a:srgbClr val="B8941A"/>
                </a:solidFill>
                <a:latin typeface="Calibri"/>
              </a:rPr>
              <a:t>161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30" b="0" i="0">
                <a:solidFill>
                  <a:srgbClr val="2D3748"/>
                </a:solidFill>
                <a:latin typeface="Calibri"/>
              </a:rPr>
              <a:t>Curated experiences
across 11 communities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3200400"/>
            <a:ext cx="2606040" cy="146304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338328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5720" b="1" i="0">
                <a:solidFill>
                  <a:srgbClr val="B8941A"/>
                </a:solidFill>
                <a:latin typeface="Calibri"/>
              </a:rPr>
              <a:t>460+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416052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30" b="0" i="0">
                <a:solidFill>
                  <a:srgbClr val="2D3748"/>
                </a:solidFill>
                <a:latin typeface="Calibri"/>
              </a:rPr>
              <a:t>Live events from
6 sources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3200400"/>
            <a:ext cx="2606040" cy="146304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338328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5720" b="1" i="0">
                <a:solidFill>
                  <a:srgbClr val="B8941A"/>
                </a:solidFill>
                <a:latin typeface="Calibri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16052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30" b="0" i="0">
                <a:solidFill>
                  <a:srgbClr val="2D3748"/>
                </a:solidFill>
                <a:latin typeface="Calibri"/>
              </a:rPr>
              <a:t>Themed vibes
for discovery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15400" y="3200400"/>
            <a:ext cx="2606040" cy="146304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15400" y="338328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5720" b="1" i="0">
                <a:solidFill>
                  <a:srgbClr val="B8941A"/>
                </a:solidFill>
                <a:latin typeface="Calibri"/>
              </a:rPr>
              <a:t>$5–$20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416052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30" b="0" i="0">
                <a:solidFill>
                  <a:srgbClr val="2D3748"/>
                </a:solidFill>
                <a:latin typeface="Calibri"/>
              </a:rPr>
              <a:t>Typical
monthly 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937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1">
                <a:solidFill>
                  <a:srgbClr val="2D3748"/>
                </a:solidFill>
                <a:latin typeface="Calibri"/>
              </a:rPr>
              <a:t>Geographic scope: Western Nevada County (Gold Country foothills) + adjacent Colfax.
Truckee and Sierra-side communities are out of scope for this build.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2D374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2D3748"/>
                </a:solidFill>
                <a:latin typeface="Calibri"/>
              </a:rPr>
              <a:t>3 / 14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B89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4A2D18"/>
                </a:solidFill>
                <a:latin typeface="Calibri"/>
              </a:rPr>
              <a:t>How visitors discover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B89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2D3748"/>
                </a:solidFill>
                <a:latin typeface="Calibri"/>
              </a:rPr>
              <a:t>Multiple paths to "I found it" — works for browse-mode and date-mode visitors.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11064240" cy="384048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29718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4A2D18"/>
                </a:solidFill>
                <a:latin typeface="Calibri"/>
              </a:rPr>
              <a:t>Discovery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40" y="1645920"/>
            <a:ext cx="7818119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4A2D18"/>
                </a:solidFill>
                <a:latin typeface="Calibri"/>
              </a:rPr>
              <a:t>What it does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984248"/>
            <a:ext cx="11064240" cy="25400"/>
          </a:xfrm>
          <a:prstGeom prst="rect">
            <a:avLst/>
          </a:prstGeom>
          <a:solidFill>
            <a:srgbClr val="B89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020824"/>
            <a:ext cx="11064240" cy="5943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66544"/>
            <a:ext cx="29718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Themed vibes (9 cards)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40" y="205740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Historic · Arts · Hands-On · Foodie · Active · Relaxed · Wellness · Family · Festivals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0" y="233172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40" b="0" i="1">
                <a:solidFill>
                  <a:srgbClr val="4A2D18"/>
                </a:solidFill>
                <a:latin typeface="Calibri"/>
              </a:rPr>
              <a:t>↳  No-plan visitor taps "Foodie" — relevant cards instantly filter 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660904"/>
            <a:ext cx="29718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Vibe-level pills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40" y="265176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Pick Foodie → narrow to Restaurants / Wineries / Markets / Bakeries / Food Events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40" y="292608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40" b="0" i="1">
                <a:solidFill>
                  <a:srgbClr val="4A2D18"/>
                </a:solidFill>
                <a:latin typeface="Calibri"/>
              </a:rPr>
              <a:t>↳  Foodie visitor switches to "Wineries only" without leaving the vibe.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209544"/>
            <a:ext cx="11064240" cy="5943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255264"/>
            <a:ext cx="29718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Category dropdown + sub-pills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40" y="324612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Lodging → Hotels / B&amp;Bs / Glamping / Campgrounds / RV  (and more)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40" y="352044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40" b="0" i="1">
                <a:solidFill>
                  <a:srgbClr val="4A2D18"/>
                </a:solidFill>
                <a:latin typeface="Calibri"/>
              </a:rPr>
              <a:t>↳  Family of four picks Lodging → B&amp;Bs to find character stays over chains.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849624"/>
            <a:ext cx="29718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Activity tags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40" y="384048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Hiking · Biking · Swimming · Fishing · Boating · Running on every relevant card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40" y="411480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40" b="0" i="1">
                <a:solidFill>
                  <a:srgbClr val="4A2D18"/>
                </a:solidFill>
                <a:latin typeface="Calibri"/>
              </a:rPr>
              <a:t>↳  Mountain biker scrolls and immediately spots cards tagged "Biking".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398264"/>
            <a:ext cx="11064240" cy="5943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443984"/>
            <a:ext cx="29718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Date filter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49040" y="443484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All Future (default) · Today · Weekend · Week — auto-clears summer-only items in winter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40" y="470916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40" b="0" i="1">
                <a:solidFill>
                  <a:srgbClr val="4A2D18"/>
                </a:solidFill>
                <a:latin typeface="Calibri"/>
              </a:rPr>
              <a:t>↳  One-tap "Weekend" — only Sat/Sun events remain across every vibe.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038344"/>
            <a:ext cx="29718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Area filter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40" y="502920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County-wide events show for any local area; city events filter normally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49040" y="530352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40" b="0" i="1">
                <a:solidFill>
                  <a:srgbClr val="4A2D18"/>
                </a:solidFill>
                <a:latin typeface="Calibri"/>
              </a:rPr>
              <a:t>↳  Penn Valley resident filters out Nevada City clutter for a local night out.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586984"/>
            <a:ext cx="11064240" cy="5943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632704"/>
            <a:ext cx="29718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Tag-aware Smart Suggestions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49040" y="562356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"More to Explore" panel in the itinerary — geographic + tag scoring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40" y="589788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40" b="0" i="1">
                <a:solidFill>
                  <a:srgbClr val="4A2D18"/>
                </a:solidFill>
                <a:latin typeface="Calibri"/>
              </a:rPr>
              <a:t>↳  After Empire Mine goes in, the panel surfaces Holbrooke Hotel 0.4 mi away.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2D374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2D3748"/>
                </a:solidFill>
                <a:latin typeface="Calibri"/>
              </a:rPr>
              <a:t>4 / 14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B89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4A2D18"/>
                </a:solidFill>
                <a:latin typeface="Calibri"/>
              </a:rPr>
              <a:t>Day-by-day itinerary builder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B89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2D3748"/>
                </a:solidFill>
                <a:latin typeface="Calibri"/>
              </a:rPr>
              <a:t>Visitors think in nights, not stops — the planner reflects that.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6400800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</a:pPr>
            <a:r>
              <a:rPr sz="1690" b="1">
                <a:solidFill>
                  <a:srgbClr val="B8941A"/>
                </a:solidFill>
                <a:latin typeface="Calibri"/>
              </a:rPr>
              <a:t>• </a:t>
            </a:r>
            <a:r>
              <a:rPr sz="1430">
                <a:solidFill>
                  <a:srgbClr val="1E1508"/>
                </a:solidFill>
                <a:latin typeface="Calibri"/>
              </a:rPr>
              <a:t>Each day has its own card with a numbered header and calendar date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170" i="1">
                <a:solidFill>
                  <a:srgbClr val="4A2D18"/>
                </a:solidFill>
                <a:latin typeface="Calibri"/>
              </a:rPr>
              <a:t>       ↳  Visitor sees "Day 1: Sat May 17" instead of an undifferentiated stop list.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690" b="1">
                <a:solidFill>
                  <a:srgbClr val="B8941A"/>
                </a:solidFill>
                <a:latin typeface="Calibri"/>
              </a:rPr>
              <a:t>• </a:t>
            </a:r>
            <a:r>
              <a:rPr sz="1430">
                <a:solidFill>
                  <a:srgbClr val="1E1508"/>
                </a:solidFill>
                <a:latin typeface="Calibri"/>
              </a:rPr>
              <a:t>Per-day "Tonight's Stay" lodging slot — empty slots prompt for booking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170" i="1">
                <a:solidFill>
                  <a:srgbClr val="4A2D18"/>
                </a:solidFill>
                <a:latin typeface="Calibri"/>
              </a:rPr>
              <a:t>       ↳  Empty Day 2 stay tile reminds the visitor they haven't booked Sunday yet.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690" b="1">
                <a:solidFill>
                  <a:srgbClr val="B8941A"/>
                </a:solidFill>
                <a:latin typeface="Calibri"/>
              </a:rPr>
              <a:t>• </a:t>
            </a:r>
            <a:r>
              <a:rPr sz="1430">
                <a:solidFill>
                  <a:srgbClr val="1E1508"/>
                </a:solidFill>
                <a:latin typeface="Calibri"/>
              </a:rPr>
              <a:t>Drag-free move-between-days dropdown on every item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170" i="1">
                <a:solidFill>
                  <a:srgbClr val="4A2D18"/>
                </a:solidFill>
                <a:latin typeface="Calibri"/>
              </a:rPr>
              <a:t>       ↳  Spouse on phone moves Friday's hike to Saturday in two taps.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690" b="1">
                <a:solidFill>
                  <a:srgbClr val="B8941A"/>
                </a:solidFill>
                <a:latin typeface="Calibri"/>
              </a:rPr>
              <a:t>• </a:t>
            </a:r>
            <a:r>
              <a:rPr sz="1430">
                <a:solidFill>
                  <a:srgbClr val="1E1508"/>
                </a:solidFill>
                <a:latin typeface="Calibri"/>
              </a:rPr>
              <a:t>Add Day → returns visitor to browse mode for the new day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170" i="1">
                <a:solidFill>
                  <a:srgbClr val="4A2D18"/>
                </a:solidFill>
                <a:latin typeface="Calibri"/>
              </a:rPr>
              <a:t>       ↳  Tap "Add Day," land on cards to pick Day 3 activities — flow continues.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690" b="1">
                <a:solidFill>
                  <a:srgbClr val="B8941A"/>
                </a:solidFill>
                <a:latin typeface="Calibri"/>
              </a:rPr>
              <a:t>• </a:t>
            </a:r>
            <a:r>
              <a:rPr sz="1430">
                <a:solidFill>
                  <a:srgbClr val="1E1508"/>
                </a:solidFill>
                <a:latin typeface="Calibri"/>
              </a:rPr>
              <a:t>Find Lodging button at top of itinerary jumps directly to lodging filter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170" i="1">
                <a:solidFill>
                  <a:srgbClr val="4A2D18"/>
                </a:solidFill>
                <a:latin typeface="Calibri"/>
              </a:rPr>
              <a:t>       ↳  Six stops in but no hotel — one tap surfaces every nearby B&amp;B.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690" b="1">
                <a:solidFill>
                  <a:srgbClr val="B8941A"/>
                </a:solidFill>
                <a:latin typeface="Calibri"/>
              </a:rPr>
              <a:t>• </a:t>
            </a:r>
            <a:r>
              <a:rPr sz="1430">
                <a:solidFill>
                  <a:srgbClr val="1E1508"/>
                </a:solidFill>
                <a:latin typeface="Calibri"/>
              </a:rPr>
              <a:t>Events go INTO the itinerary first; the visitor decides what to commit to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170" i="1">
                <a:solidFill>
                  <a:srgbClr val="4A2D18"/>
                </a:solidFill>
                <a:latin typeface="Calibri"/>
              </a:rPr>
              <a:t>       ↳  Bluegrass concert tile lands in My Itinerary, not on KVMR's site.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690" b="1">
                <a:solidFill>
                  <a:srgbClr val="B8941A"/>
                </a:solidFill>
                <a:latin typeface="Calibri"/>
              </a:rPr>
              <a:t>• </a:t>
            </a:r>
            <a:r>
              <a:rPr sz="1430">
                <a:solidFill>
                  <a:srgbClr val="1E1508"/>
                </a:solidFill>
                <a:latin typeface="Calibri"/>
              </a:rPr>
              <a:t>15-min add → opt-in save → survives tab close + browser restart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170" i="1">
                <a:solidFill>
                  <a:srgbClr val="4A2D18"/>
                </a:solidFill>
                <a:latin typeface="Calibri"/>
              </a:rPr>
              <a:t>       ↳  Browser closes, phone reboots — itinerary still there next morning.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690" b="1">
                <a:solidFill>
                  <a:srgbClr val="B8941A"/>
                </a:solidFill>
                <a:latin typeface="Calibri"/>
              </a:rPr>
              <a:t>• </a:t>
            </a:r>
            <a:r>
              <a:rPr sz="1430">
                <a:solidFill>
                  <a:srgbClr val="1E1508"/>
                </a:solidFill>
                <a:latin typeface="Calibri"/>
              </a:rPr>
              <a:t>Share link via native phone share sheet, email, text, or copy URL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170" i="1">
                <a:solidFill>
                  <a:srgbClr val="4A2D18"/>
                </a:solidFill>
                <a:latin typeface="Calibri"/>
              </a:rPr>
              <a:t>       ↳  Visitor texts the URL to spouse: "this is what I'm thinking."</a:t>
            </a:r>
          </a:p>
        </p:txBody>
      </p:sp>
      <p:sp>
        <p:nvSpPr>
          <p:cNvPr id="6" name="Rectangle 5"/>
          <p:cNvSpPr/>
          <p:nvPr/>
        </p:nvSpPr>
        <p:spPr>
          <a:xfrm>
            <a:off x="7223760" y="1691640"/>
            <a:ext cx="4389120" cy="4572000"/>
          </a:xfrm>
          <a:prstGeom prst="rect">
            <a:avLst/>
          </a:prstGeom>
          <a:solidFill>
            <a:srgbClr val="FBF7EE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0" y="1828800"/>
            <a:ext cx="40233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1">
                <a:solidFill>
                  <a:srgbClr val="2D3748"/>
                </a:solidFill>
                <a:latin typeface="Calibri"/>
              </a:rPr>
              <a:t>2 stops · 2 days / 1 night</a:t>
            </a:r>
          </a:p>
        </p:txBody>
      </p:sp>
      <p:sp>
        <p:nvSpPr>
          <p:cNvPr id="8" name="Rectangle 7"/>
          <p:cNvSpPr/>
          <p:nvPr/>
        </p:nvSpPr>
        <p:spPr>
          <a:xfrm>
            <a:off x="7452360" y="2240280"/>
            <a:ext cx="393192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B894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0" y="2331720"/>
            <a:ext cx="38404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4A2D18"/>
                </a:solidFill>
                <a:latin typeface="Calibri"/>
              </a:rPr>
              <a:t>DAY 1 of 2   Sat, Jun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2697480"/>
            <a:ext cx="38404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💤 TONIGHT'S STAY
Holbrooke Hotel · Grass Valley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3383280"/>
            <a:ext cx="38404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1.  Empire Mine State Historic Park
2.  Lola Restaurant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52360" y="4206240"/>
            <a:ext cx="393192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B894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0" y="4297680"/>
            <a:ext cx="38404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4A2D18"/>
                </a:solidFill>
                <a:latin typeface="Calibri"/>
              </a:rPr>
              <a:t>DAY 2 of 2   Sun, Jun 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4617720"/>
            <a:ext cx="38404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1">
                <a:solidFill>
                  <a:srgbClr val="2D3748"/>
                </a:solidFill>
                <a:latin typeface="Calibri"/>
              </a:rPr>
              <a:t>💤  No lodging picked for tonight  →  [Find Lodging]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5074920"/>
            <a:ext cx="38404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B8941A"/>
                </a:solidFill>
                <a:latin typeface="Calibri"/>
              </a:rPr>
              <a:t>📅  Father's Day Bluegrass — Sat 7:00 PM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2D374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2D3748"/>
                </a:solidFill>
                <a:latin typeface="Calibri"/>
              </a:rPr>
              <a:t>5 / 14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B89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4A2D18"/>
                </a:solidFill>
                <a:latin typeface="Calibri"/>
              </a:rPr>
              <a:t>Let me show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B89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2D3748"/>
                </a:solidFill>
                <a:latin typeface="Calibri"/>
              </a:rPr>
              <a:t>A live demo: visitor planning a romantic November weekend in Western Nevada County.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11064240" cy="384048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69164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4A2D18"/>
                </a:solidFill>
                <a:latin typeface="Calibri"/>
              </a:rPr>
              <a:t>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737360"/>
            <a:ext cx="909828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4A2D18"/>
                </a:solidFill>
                <a:latin typeface="Calibri"/>
              </a:rPr>
              <a:t>What happens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075688"/>
            <a:ext cx="11064240" cy="25400"/>
          </a:xfrm>
          <a:prstGeom prst="rect">
            <a:avLst/>
          </a:prstGeom>
          <a:solidFill>
            <a:srgbClr val="B89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12264"/>
            <a:ext cx="11064240" cy="7772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5798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1E1508"/>
                </a:solidFill>
                <a:latin typeface="Calibri"/>
              </a:rPr>
              <a:t>Act 1 · 2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15798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1E1508"/>
                </a:solidFill>
                <a:latin typeface="Calibri"/>
              </a:rPr>
              <a:t>Set the scene — couple from Sacramento, click "This Weekend" + Festivals vibe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3522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1E1508"/>
                </a:solidFill>
                <a:latin typeface="Calibri"/>
              </a:rPr>
              <a:t>Act 2 · 90 sec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93522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1E1508"/>
                </a:solidFill>
                <a:latin typeface="Calibri"/>
              </a:rPr>
              <a:t>Layer in Relaxed vibe + Lodging category + B&amp;B sub-pill — real Victorian B&amp;Bs surface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66744"/>
            <a:ext cx="11064240" cy="7772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71246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1E1508"/>
                </a:solidFill>
                <a:latin typeface="Calibri"/>
              </a:rPr>
              <a:t>Act 3 · 2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371246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1E1508"/>
                </a:solidFill>
                <a:latin typeface="Calibri"/>
              </a:rPr>
              <a:t>Build the weekend — Cornish Christmas + Holbrooke Hotel + Empire Mine + Lola Restaurant. Open My Itinerary — Smart Suggestions appear with "0.4 mi away" labels. Map view + Print + Share link.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8970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1E1508"/>
                </a:solidFill>
                <a:latin typeface="Calibri"/>
              </a:rPr>
              <a:t>Act 4 · 90 sec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448970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1E1508"/>
                </a:solidFill>
                <a:latin typeface="Calibri"/>
              </a:rPr>
              <a:t>Behind the scenes — admin Events Queue, Approve All, AI Categorize button, Event Sources tab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221224"/>
            <a:ext cx="11064240" cy="7772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26694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1E1508"/>
                </a:solidFill>
                <a:latin typeface="Calibri"/>
              </a:rPr>
              <a:t>Act 5 · 60 sec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8880" y="526694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1E1508"/>
                </a:solidFill>
                <a:latin typeface="Calibri"/>
              </a:rPr>
              <a:t>Close the value props — time saved, local visibility, privacy, no vendor lock-in, AI integration, low maintenance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2D374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2D3748"/>
                </a:solidFill>
                <a:latin typeface="Calibri"/>
              </a:rPr>
              <a:t>6 / 14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B89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4A2D18"/>
                </a:solidFill>
                <a:latin typeface="Calibri"/>
              </a:rPr>
              <a:t>Who this serves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B89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2D3748"/>
                </a:solidFill>
                <a:latin typeface="Calibri"/>
              </a:rPr>
              <a:t>Nine visitor personas — each searches differently and converts on different content.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1064240" cy="4297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820" b="1">
                <a:solidFill>
                  <a:srgbClr val="B8941A"/>
                </a:solidFill>
                <a:latin typeface="Calibri"/>
              </a:rPr>
              <a:t>• </a:t>
            </a:r>
            <a:r>
              <a:rPr sz="1560">
                <a:solidFill>
                  <a:srgbClr val="1E1508"/>
                </a:solidFill>
                <a:latin typeface="Calibri"/>
              </a:rPr>
              <a:t>1. Romantic Weekender    —    Couples 35-65, Bay Area / Sac, B&amp;Bs + dining + wineries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B8941A"/>
                </a:solidFill>
                <a:latin typeface="Calibri"/>
              </a:rPr>
              <a:t>• </a:t>
            </a:r>
            <a:r>
              <a:rPr sz="1560">
                <a:solidFill>
                  <a:srgbClr val="1E1508"/>
                </a:solidFill>
                <a:latin typeface="Calibri"/>
              </a:rPr>
              <a:t>2. Festival Pilgrim    —    Anchored to a specific event — Cornish Christmas, Wild &amp; Scenic, Bluegrass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B8941A"/>
                </a:solidFill>
                <a:latin typeface="Calibri"/>
              </a:rPr>
              <a:t>• </a:t>
            </a:r>
            <a:r>
              <a:rPr sz="1560">
                <a:solidFill>
                  <a:srgbClr val="1E1508"/>
                </a:solidFill>
                <a:latin typeface="Calibri"/>
              </a:rPr>
              <a:t>3. Trail &amp; Lake Seeker    —    Hiking / biking / swimming / paddling — needs distance &amp; difficulty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B8941A"/>
                </a:solidFill>
                <a:latin typeface="Calibri"/>
              </a:rPr>
              <a:t>• </a:t>
            </a:r>
            <a:r>
              <a:rPr sz="1560">
                <a:solidFill>
                  <a:srgbClr val="1E1508"/>
                </a:solidFill>
                <a:latin typeface="Calibri"/>
              </a:rPr>
              <a:t>4. Multi-Gen Family    —    Parents with kids 5-15 — "will my 8-year-old be bored?"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B8941A"/>
                </a:solidFill>
                <a:latin typeface="Calibri"/>
              </a:rPr>
              <a:t>• </a:t>
            </a:r>
            <a:r>
              <a:rPr sz="1560">
                <a:solidFill>
                  <a:srgbClr val="1E1508"/>
                </a:solidFill>
                <a:latin typeface="Calibri"/>
              </a:rPr>
              <a:t>5. Arts &amp; Heritage Traveler    —    Substance over photos; reads notes; values authenticity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B8941A"/>
                </a:solidFill>
                <a:latin typeface="Calibri"/>
              </a:rPr>
              <a:t>• </a:t>
            </a:r>
            <a:r>
              <a:rPr sz="1560">
                <a:solidFill>
                  <a:srgbClr val="1E1508"/>
                </a:solidFill>
                <a:latin typeface="Calibri"/>
              </a:rPr>
              <a:t>6. Wine Country Foodie    —    Napa-alternative — provenance, chef bios, tasting flights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B8941A"/>
                </a:solidFill>
                <a:latin typeface="Calibri"/>
              </a:rPr>
              <a:t>• </a:t>
            </a:r>
            <a:r>
              <a:rPr sz="1560">
                <a:solidFill>
                  <a:srgbClr val="1E1508"/>
                </a:solidFill>
                <a:latin typeface="Calibri"/>
              </a:rPr>
              <a:t>7. Wellness Refugee    —    Float, massage, yoga, gardens — filtering for what's NOT there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B8941A"/>
                </a:solidFill>
                <a:latin typeface="Calibri"/>
              </a:rPr>
              <a:t>• </a:t>
            </a:r>
            <a:r>
              <a:rPr sz="1560">
                <a:solidFill>
                  <a:srgbClr val="1E1508"/>
                </a:solidFill>
                <a:latin typeface="Calibri"/>
              </a:rPr>
              <a:t>8. Local "What's Up"    —    Residents — pure events feed, "what's on this weekend"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B8941A"/>
                </a:solidFill>
                <a:latin typeface="Calibri"/>
              </a:rPr>
              <a:t>• </a:t>
            </a:r>
            <a:r>
              <a:rPr sz="1560">
                <a:solidFill>
                  <a:srgbClr val="1E1508"/>
                </a:solidFill>
                <a:latin typeface="Calibri"/>
              </a:rPr>
              <a:t>9. Maker Traveler    —    Travels for the workshop — a destination-class workshop venue can anchor a regional identity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486400"/>
            <a:ext cx="11064240" cy="777240"/>
          </a:xfrm>
          <a:prstGeom prst="rect">
            <a:avLst/>
          </a:prstGeom>
          <a:solidFill>
            <a:srgbClr val="FBF7EE"/>
          </a:solidFill>
          <a:ln w="6350">
            <a:solidFill>
              <a:srgbClr val="B894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532120"/>
            <a:ext cx="10881360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60" b="1" i="0">
                <a:solidFill>
                  <a:srgbClr val="4A2D18"/>
                </a:solidFill>
                <a:latin typeface="Calibri"/>
              </a:rPr>
              <a:t>Recommended marketing focus (over-serve four):  Festival Pilgrim  ·  Romantic Weekender  ·  Foodie  ·  Maker Traveler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2D374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2D3748"/>
                </a:solidFill>
                <a:latin typeface="Calibri"/>
              </a:rPr>
              <a:t>7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B89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4A2D18"/>
                </a:solidFill>
                <a:latin typeface="Calibri"/>
              </a:rPr>
              <a:t>Why it's easy to use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B89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2D3748"/>
                </a:solidFill>
                <a:latin typeface="Calibri"/>
              </a:rPr>
              <a:t>Friction points where most tourism sites lose visitors — and what we did instead.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11064240" cy="384048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352044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4A2D18"/>
                </a:solidFill>
                <a:latin typeface="Calibri"/>
              </a:rPr>
              <a:t>Decision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554480"/>
            <a:ext cx="7269479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4A2D18"/>
                </a:solidFill>
                <a:latin typeface="Calibri"/>
              </a:rPr>
              <a:t>Why it matters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92808"/>
            <a:ext cx="11064240" cy="25400"/>
          </a:xfrm>
          <a:prstGeom prst="rect">
            <a:avLst/>
          </a:prstGeom>
          <a:solidFill>
            <a:srgbClr val="B89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929384"/>
            <a:ext cx="11064240" cy="5486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97510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1E1508"/>
                </a:solidFill>
                <a:latin typeface="Calibri"/>
              </a:rPr>
              <a:t>Day-by-day with lodging anchor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96596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1E1508"/>
                </a:solidFill>
                <a:latin typeface="Calibri"/>
              </a:rPr>
              <a:t>A flat list of stops hides the night question; structured days surface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21741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40" b="0" i="1">
                <a:solidFill>
                  <a:srgbClr val="4A2D18"/>
                </a:solidFill>
                <a:latin typeface="Calibri"/>
              </a:rPr>
              <a:t>↳  Visitor sees Day 2 has no stay tile, books before leaving the page.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2374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1E1508"/>
                </a:solidFill>
                <a:latin typeface="Calibri"/>
              </a:rPr>
              <a:t>"Find Lodging" CTA + auto-clear vibes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51460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1E1508"/>
                </a:solidFill>
                <a:latin typeface="Calibri"/>
              </a:rPr>
              <a:t>One-click jump to lodging that doesn't fight against active vibes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76605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40" b="0" i="1">
                <a:solidFill>
                  <a:srgbClr val="4A2D18"/>
                </a:solidFill>
                <a:latin typeface="Calibri"/>
              </a:rPr>
              <a:t>↳  Foodie-vibe visitor taps Find Lodging; vibes clear so all stays show.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026664"/>
            <a:ext cx="11064240" cy="5486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7238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1E1508"/>
                </a:solidFill>
                <a:latin typeface="Calibri"/>
              </a:rPr>
              <a:t>Add Day returns to browse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306324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1E1508"/>
                </a:solidFill>
                <a:latin typeface="Calibri"/>
              </a:rPr>
              <a:t>No leaving visitor staring at empty days; flow continues naturally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331469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40" b="0" i="1">
                <a:solidFill>
                  <a:srgbClr val="4A2D18"/>
                </a:solidFill>
                <a:latin typeface="Calibri"/>
              </a:rPr>
              <a:t>↳  Day 2 isn't an empty container — visitor lands somewhere productive.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62102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1E1508"/>
                </a:solidFill>
                <a:latin typeface="Calibri"/>
              </a:rPr>
              <a:t>Events → itinerary first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361188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1E1508"/>
                </a:solidFill>
                <a:latin typeface="Calibri"/>
              </a:rPr>
              <a:t>No hijack to KVMR — visitor compares before clicking through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386333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40" b="0" i="1">
                <a:solidFill>
                  <a:srgbClr val="4A2D18"/>
                </a:solidFill>
                <a:latin typeface="Calibri"/>
              </a:rPr>
              <a:t>↳  Three concerts compared side-by-side before committing to one.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123944"/>
            <a:ext cx="11064240" cy="5486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16966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1E1508"/>
                </a:solidFill>
                <a:latin typeface="Calibri"/>
              </a:rPr>
              <a:t>Vibe sub-pills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416052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1E1508"/>
                </a:solidFill>
                <a:latin typeface="Calibri"/>
              </a:rPr>
              <a:t>Foodie → Restaurants/Markets/Wineries — granular without leaving the vibe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441197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40" b="0" i="1">
                <a:solidFill>
                  <a:srgbClr val="4A2D18"/>
                </a:solidFill>
                <a:latin typeface="Calibri"/>
              </a:rPr>
              <a:t>↳  Foodie → Wineries narrows without switching mental contexts.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71830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1E1508"/>
                </a:solidFill>
                <a:latin typeface="Calibri"/>
              </a:rPr>
              <a:t>Calendar dates on day headers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470916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1E1508"/>
                </a:solidFill>
                <a:latin typeface="Calibri"/>
              </a:rPr>
              <a:t>"DAY 1 · Sat, May 17" instead of abstract numbers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496061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40" b="0" i="1">
                <a:solidFill>
                  <a:srgbClr val="4A2D18"/>
                </a:solidFill>
                <a:latin typeface="Calibri"/>
              </a:rPr>
              <a:t>↳  "Sat, May 17" grounds the trip in real-world weekend planning.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221224"/>
            <a:ext cx="11064240" cy="5486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26694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1E1508"/>
                </a:solidFill>
                <a:latin typeface="Calibri"/>
              </a:rPr>
              <a:t>Opt-in itinerary save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525780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1E1508"/>
                </a:solidFill>
                <a:latin typeface="Calibri"/>
              </a:rPr>
              <a:t>Survives tab close + restart — no account, no email, explicit consent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550925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40" b="0" i="1">
                <a:solidFill>
                  <a:srgbClr val="4A2D18"/>
                </a:solidFill>
                <a:latin typeface="Calibri"/>
              </a:rPr>
              <a:t>↳  Banner appears only after first add — visitor consents knowingly.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81558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1E1508"/>
                </a:solidFill>
                <a:latin typeface="Calibri"/>
              </a:rPr>
              <a:t>Auto-season filtering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0" y="580644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1E1508"/>
                </a:solidFill>
                <a:latin typeface="Calibri"/>
              </a:rPr>
              <a:t>November visit hides summer-only experiences automatically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97680" y="605789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40" b="0" i="1">
                <a:solidFill>
                  <a:srgbClr val="4A2D18"/>
                </a:solidFill>
                <a:latin typeface="Calibri"/>
              </a:rPr>
              <a:t>↳  December visitor never sees "summer concert series" as a dead lead.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2D374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2D3748"/>
                </a:solidFill>
                <a:latin typeface="Calibri"/>
              </a:rPr>
              <a:t>8 / 14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B89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4A2D18"/>
                </a:solidFill>
                <a:latin typeface="Calibri"/>
              </a:rPr>
              <a:t>Privacy posture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B89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2D3748"/>
                </a:solidFill>
                <a:latin typeface="Calibri"/>
              </a:rPr>
              <a:t>No tracking. No cookies. Visitors stay anonymous; the chamber gets credit for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064240" cy="4297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8000"/>
              </a:lnSpc>
            </a:pPr>
            <a:r>
              <a:rPr sz="1690" b="1">
                <a:solidFill>
                  <a:srgbClr val="B8941A"/>
                </a:solidFill>
                <a:latin typeface="Calibri"/>
              </a:rPr>
              <a:t>• </a:t>
            </a:r>
            <a:r>
              <a:rPr sz="1430">
                <a:solidFill>
                  <a:srgbClr val="1E1508"/>
                </a:solidFill>
                <a:latin typeface="Calibri"/>
              </a:rPr>
              <a:t>No analytics, no cookies, no third-party trackers by default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170" i="1">
                <a:solidFill>
                  <a:srgbClr val="4A2D18"/>
                </a:solidFill>
                <a:latin typeface="Calibri"/>
              </a:rPr>
              <a:t>       ↳  Site loads instantly — no cookie modal between visitor and content.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690" b="1">
                <a:solidFill>
                  <a:srgbClr val="B8941A"/>
                </a:solidFill>
                <a:latin typeface="Calibri"/>
              </a:rPr>
              <a:t>• </a:t>
            </a:r>
            <a:r>
              <a:rPr sz="1430">
                <a:solidFill>
                  <a:srgbClr val="1E1508"/>
                </a:solidFill>
                <a:latin typeface="Calibri"/>
              </a:rPr>
              <a:t>Itinerary save is opt-in only — explicit consent banner on first add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170" i="1">
                <a:solidFill>
                  <a:srgbClr val="4A2D18"/>
                </a:solidFill>
                <a:latin typeface="Calibri"/>
              </a:rPr>
              <a:t>       ↳  Banner appears only after first card added; visitor knows what they're consenting to.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690" b="1">
                <a:solidFill>
                  <a:srgbClr val="B8941A"/>
                </a:solidFill>
                <a:latin typeface="Calibri"/>
              </a:rPr>
              <a:t>• </a:t>
            </a:r>
            <a:r>
              <a:rPr sz="1430">
                <a:solidFill>
                  <a:srgbClr val="1E1508"/>
                </a:solidFill>
                <a:latin typeface="Calibri"/>
              </a:rPr>
              <a:t>"Forget on this device" link revokes consent and wipes saved data anytime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170" i="1">
                <a:solidFill>
                  <a:srgbClr val="4A2D18"/>
                </a:solidFill>
                <a:latin typeface="Calibri"/>
              </a:rPr>
              <a:t>       ↳  Trip ends — visitor wipes the itinerary in two taps, takes nothing back home.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690" b="1">
                <a:solidFill>
                  <a:srgbClr val="B8941A"/>
                </a:solidFill>
                <a:latin typeface="Calibri"/>
              </a:rPr>
              <a:t>• </a:t>
            </a:r>
            <a:r>
              <a:rPr sz="1430">
                <a:solidFill>
                  <a:srgbClr val="1E1508"/>
                </a:solidFill>
                <a:latin typeface="Calibri"/>
              </a:rPr>
              <a:t>Share-link URL works without any consent — purely a URL fragment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170" i="1">
                <a:solidFill>
                  <a:srgbClr val="4A2D18"/>
                </a:solidFill>
                <a:latin typeface="Calibri"/>
              </a:rPr>
              <a:t>       ↳  Two friends compare itineraries via shared URLs, neither registered for anything.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690" b="1">
                <a:solidFill>
                  <a:srgbClr val="B8941A"/>
                </a:solidFill>
                <a:latin typeface="Calibri"/>
              </a:rPr>
              <a:t>• </a:t>
            </a:r>
            <a:r>
              <a:rPr sz="1430">
                <a:solidFill>
                  <a:srgbClr val="1E1508"/>
                </a:solidFill>
                <a:latin typeface="Calibri"/>
              </a:rPr>
              <a:t>No account / sign-up / email required to plan a full trip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170" i="1">
                <a:solidFill>
                  <a:srgbClr val="4A2D18"/>
                </a:solidFill>
                <a:latin typeface="Calibri"/>
              </a:rPr>
              <a:t>       ↳  30 seconds from landing → planning, no email-collection wall.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690" b="1">
                <a:solidFill>
                  <a:srgbClr val="B8941A"/>
                </a:solidFill>
                <a:latin typeface="Calibri"/>
              </a:rPr>
              <a:t>• </a:t>
            </a:r>
            <a:r>
              <a:rPr sz="1430">
                <a:solidFill>
                  <a:srgbClr val="1E1508"/>
                </a:solidFill>
                <a:latin typeface="Calibri"/>
              </a:rPr>
              <a:t>Chamber sees zero personal information about visitors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170" i="1">
                <a:solidFill>
                  <a:srgbClr val="4A2D18"/>
                </a:solidFill>
                <a:latin typeface="Calibri"/>
              </a:rPr>
              <a:t>       ↳  Aggregate event queue tells the chamber what's hot; visitor identity stays local.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690" b="1">
                <a:solidFill>
                  <a:srgbClr val="B8941A"/>
                </a:solidFill>
                <a:latin typeface="Calibri"/>
              </a:rPr>
              <a:t>• </a:t>
            </a:r>
            <a:r>
              <a:rPr sz="1430">
                <a:solidFill>
                  <a:srgbClr val="1E1508"/>
                </a:solidFill>
                <a:latin typeface="Calibri"/>
              </a:rPr>
              <a:t>No GDPR / CCPA banners required (because nothing is collected)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170" i="1">
                <a:solidFill>
                  <a:srgbClr val="4A2D18"/>
                </a:solidFill>
                <a:latin typeface="Calibri"/>
              </a:rPr>
              <a:t>       ↳  EU visitor on holiday gets the site without a banner ambush.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690" b="1">
                <a:solidFill>
                  <a:srgbClr val="B8941A"/>
                </a:solidFill>
                <a:latin typeface="Calibri"/>
              </a:rPr>
              <a:t>• </a:t>
            </a:r>
            <a:r>
              <a:rPr sz="1430">
                <a:solidFill>
                  <a:srgbClr val="1E1508"/>
                </a:solidFill>
                <a:latin typeface="Calibri"/>
              </a:rPr>
              <a:t>No privacy review, no consent-platform fees, no compliance overhead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170" i="1">
                <a:solidFill>
                  <a:srgbClr val="4A2D18"/>
                </a:solidFill>
                <a:latin typeface="Calibri"/>
              </a:rPr>
              <a:t>       ↳  Annual compliance budget for the platform: $0 — nothing to review.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690" b="1">
                <a:solidFill>
                  <a:srgbClr val="B8941A"/>
                </a:solidFill>
                <a:latin typeface="Calibri"/>
              </a:rPr>
              <a:t>• </a:t>
            </a:r>
            <a:r>
              <a:rPr sz="1430">
                <a:solidFill>
                  <a:srgbClr val="1E1508"/>
                </a:solidFill>
                <a:latin typeface="Calibri"/>
              </a:rPr>
              <a:t>Opt-in measurement available if needed (Plausible — no cookies, no PII)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170" i="1">
                <a:solidFill>
                  <a:srgbClr val="4A2D18"/>
                </a:solidFill>
                <a:latin typeface="Calibri"/>
              </a:rPr>
              <a:t>       ↳  If the chamber wants aggregate metrics later, flip a config flag — no rebuild.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486400"/>
            <a:ext cx="11064240" cy="777240"/>
          </a:xfrm>
          <a:prstGeom prst="rect">
            <a:avLst/>
          </a:prstGeom>
          <a:solidFill>
            <a:srgbClr val="FBF7EE"/>
          </a:solidFill>
          <a:ln w="6350">
            <a:solidFill>
              <a:srgbClr val="B894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532120"/>
            <a:ext cx="10881360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820" b="0" i="1">
                <a:solidFill>
                  <a:srgbClr val="4A2D18"/>
                </a:solidFill>
                <a:latin typeface="Calibri"/>
              </a:rPr>
              <a:t>"Visitors stay anonymous; the chamber gets credit for respecting them."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2D374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2D3748"/>
                </a:solidFill>
                <a:latin typeface="Calibri"/>
              </a:rPr>
              <a:t>9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B89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4A2D18"/>
                </a:solidFill>
                <a:latin typeface="Calibri"/>
              </a:rPr>
              <a:t>Behind the scenes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B89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2D3748"/>
                </a:solidFill>
                <a:latin typeface="Calibri"/>
              </a:rPr>
              <a:t>Chamber-staff operations: live data with minimal effort.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1064240" cy="4937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8000"/>
              </a:lnSpc>
            </a:pPr>
            <a:r>
              <a:rPr sz="1560" b="1">
                <a:solidFill>
                  <a:srgbClr val="B8941A"/>
                </a:solidFill>
                <a:latin typeface="Calibri"/>
              </a:rPr>
              <a:t>• </a:t>
            </a:r>
            <a:r>
              <a:rPr sz="1300">
                <a:solidFill>
                  <a:srgbClr val="1E1508"/>
                </a:solidFill>
                <a:latin typeface="Calibri"/>
              </a:rPr>
              <a:t>🔄 One-click event-source updates from KVMR, Eventbrite, NC Chamber, GV Chamber, Go Nevada, The Union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040" i="1">
                <a:solidFill>
                  <a:srgbClr val="4A2D18"/>
                </a:solidFill>
                <a:latin typeface="Calibri"/>
              </a:rPr>
              <a:t>       ↳  Chamber staffer clicks "Refresh Sources" Monday morning; ~50 new events appear.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60" b="1">
                <a:solidFill>
                  <a:srgbClr val="B8941A"/>
                </a:solidFill>
                <a:latin typeface="Calibri"/>
              </a:rPr>
              <a:t>• </a:t>
            </a:r>
            <a:r>
              <a:rPr sz="1300">
                <a:solidFill>
                  <a:srgbClr val="1E1508"/>
                </a:solidFill>
                <a:latin typeface="Calibri"/>
              </a:rPr>
              <a:t>✅ Approve / dismiss events in a queue; bulk-approve is one click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040" i="1">
                <a:solidFill>
                  <a:srgbClr val="4A2D18"/>
                </a:solidFill>
                <a:latin typeface="Calibri"/>
              </a:rPr>
              <a:t>       ↳  Bulk-approve all KVMR events; dismiss the suspect ones individually.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60" b="1">
                <a:solidFill>
                  <a:srgbClr val="B8941A"/>
                </a:solidFill>
                <a:latin typeface="Calibri"/>
              </a:rPr>
              <a:t>• </a:t>
            </a:r>
            <a:r>
              <a:rPr sz="1300">
                <a:solidFill>
                  <a:srgbClr val="1E1508"/>
                </a:solidFill>
                <a:latin typeface="Calibri"/>
              </a:rPr>
              <a:t>🤖 AI Categorize button (Claude Haiku) — refines area, venue, tags, quality (~$0.20 per full run)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040" i="1">
                <a:solidFill>
                  <a:srgbClr val="4A2D18"/>
                </a:solidFill>
                <a:latin typeface="Calibri"/>
              </a:rPr>
              <a:t>       ↳  One click after a refresh; 460 events get area + venue + tags fixed for ~20¢.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60" b="1">
                <a:solidFill>
                  <a:srgbClr val="B8941A"/>
                </a:solidFill>
                <a:latin typeface="Calibri"/>
              </a:rPr>
              <a:t>• </a:t>
            </a:r>
            <a:r>
              <a:rPr sz="1300">
                <a:solidFill>
                  <a:srgbClr val="1E1508"/>
                </a:solidFill>
                <a:latin typeface="Calibri"/>
              </a:rPr>
              <a:t>✏️ Inline-editable experience table — anyone who can edit a spreadsheet can maintain it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040" i="1">
                <a:solidFill>
                  <a:srgbClr val="4A2D18"/>
                </a:solidFill>
                <a:latin typeface="Calibri"/>
              </a:rPr>
              <a:t>       ↳  New cidery opens — staff types one row, hits save, it's live on the public site.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60" b="1">
                <a:solidFill>
                  <a:srgbClr val="B8941A"/>
                </a:solidFill>
                <a:latin typeface="Calibri"/>
              </a:rPr>
              <a:t>• </a:t>
            </a:r>
            <a:r>
              <a:rPr sz="1300">
                <a:solidFill>
                  <a:srgbClr val="1E1508"/>
                </a:solidFill>
                <a:latin typeface="Calibri"/>
              </a:rPr>
              <a:t>🏷 Tag taxonomy editor — add/rename/delete tags without code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040" i="1">
                <a:solidFill>
                  <a:srgbClr val="4A2D18"/>
                </a:solidFill>
                <a:latin typeface="Calibri"/>
              </a:rPr>
              <a:t>       ↳  "Music" splits into "Live Music" and "Open Mic" without a developer.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60" b="1">
                <a:solidFill>
                  <a:srgbClr val="B8941A"/>
                </a:solidFill>
                <a:latin typeface="Calibri"/>
              </a:rPr>
              <a:t>• </a:t>
            </a:r>
            <a:r>
              <a:rPr sz="1300">
                <a:solidFill>
                  <a:srgbClr val="1E1508"/>
                </a:solidFill>
                <a:latin typeface="Calibri"/>
              </a:rPr>
              <a:t>🔗 Event-source URL management — add a new source by pasting a URL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040" i="1">
                <a:solidFill>
                  <a:srgbClr val="4A2D18"/>
                </a:solidFill>
                <a:latin typeface="Calibri"/>
              </a:rPr>
              <a:t>       ↳  New venue website? Paste the URL, pick a parser pattern, done.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60" b="1">
                <a:solidFill>
                  <a:srgbClr val="B8941A"/>
                </a:solidFill>
                <a:latin typeface="Calibri"/>
              </a:rPr>
              <a:t>• </a:t>
            </a:r>
            <a:r>
              <a:rPr sz="1300">
                <a:solidFill>
                  <a:srgbClr val="1E1508"/>
                </a:solidFill>
                <a:latin typeface="Calibri"/>
              </a:rPr>
              <a:t>📅 Pruning past events on every scrape + 🧹 manual button between scrapes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040" i="1">
                <a:solidFill>
                  <a:srgbClr val="4A2D18"/>
                </a:solidFill>
                <a:latin typeface="Calibri"/>
              </a:rPr>
              <a:t>       ↳  Saturday's farmers market vanishes from the queue at the next refresh — public site never showed it after Sunday anyway.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60" b="1">
                <a:solidFill>
                  <a:srgbClr val="B8941A"/>
                </a:solidFill>
                <a:latin typeface="Calibri"/>
              </a:rPr>
              <a:t>• </a:t>
            </a:r>
            <a:r>
              <a:rPr sz="1300">
                <a:solidFill>
                  <a:srgbClr val="1E1508"/>
                </a:solidFill>
                <a:latin typeface="Calibri"/>
              </a:rPr>
              <a:t>🌐 Public RSS feed at /feed.rss — partners republish without integration work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040" i="1">
                <a:solidFill>
                  <a:srgbClr val="4A2D18"/>
                </a:solidFill>
                <a:latin typeface="Calibri"/>
              </a:rPr>
              <a:t>       ↳  Local newspaper's "this weekend" widget pulls straight from /feed.rss.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60" b="1">
                <a:solidFill>
                  <a:srgbClr val="B8941A"/>
                </a:solidFill>
                <a:latin typeface="Calibri"/>
              </a:rPr>
              <a:t>• </a:t>
            </a:r>
            <a:r>
              <a:rPr sz="1300">
                <a:solidFill>
                  <a:srgbClr val="1E1508"/>
                </a:solidFill>
                <a:latin typeface="Calibri"/>
              </a:rPr>
              <a:t>💡 Public "Suggest a venue or event" form — submissions queue for chamber review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040" i="1">
                <a:solidFill>
                  <a:srgbClr val="4A2D18"/>
                </a:solidFill>
                <a:latin typeface="Calibri"/>
              </a:rPr>
              <a:t>       ↳  Chamber emails members the URL; venue owner fills the form; entry lands in admin Suggestions tab.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2D374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2D3748"/>
                </a:solidFill>
                <a:latin typeface="Calibri"/>
              </a:rPr>
              <a:t>10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B89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4A2D18"/>
                </a:solidFill>
                <a:latin typeface="Calibri"/>
              </a:rPr>
              <a:t>AI-powered tag refinement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B89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2D3748"/>
                </a:solidFill>
                <a:latin typeface="Calibri"/>
              </a:rPr>
              <a:t>Claude Haiku adds intelligence where keyword rules stop short — at trivial cost.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4864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1" i="0">
                <a:solidFill>
                  <a:srgbClr val="B8941A"/>
                </a:solidFill>
                <a:latin typeface="Calibri"/>
              </a:rPr>
              <a:t>What it fixes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548640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60" b="1">
                <a:solidFill>
                  <a:srgbClr val="B8941A"/>
                </a:solidFill>
                <a:latin typeface="Calibri"/>
              </a:rPr>
              <a:t>• </a:t>
            </a:r>
            <a:r>
              <a:rPr sz="1300">
                <a:solidFill>
                  <a:srgbClr val="1E1508"/>
                </a:solidFill>
                <a:latin typeface="Calibri"/>
              </a:rPr>
              <a:t>444 of 460 KVMR events tagged "Nevada County" → infers actual community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040" i="1">
                <a:solidFill>
                  <a:srgbClr val="4A2D18"/>
                </a:solidFill>
                <a:latin typeface="Calibri"/>
              </a:rPr>
              <a:t>       ↳  "KVMR Storytelling Night" gets "Nevada City" instead of vague "Nevada County".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B8941A"/>
                </a:solidFill>
                <a:latin typeface="Calibri"/>
              </a:rPr>
              <a:t>• </a:t>
            </a:r>
            <a:r>
              <a:rPr sz="1300">
                <a:solidFill>
                  <a:srgbClr val="1E1508"/>
                </a:solidFill>
                <a:latin typeface="Calibri"/>
              </a:rPr>
              <a:t>Empty location field on most KVMR events → extracts venue name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040" i="1">
                <a:solidFill>
                  <a:srgbClr val="4A2D18"/>
                </a:solidFill>
                <a:latin typeface="Calibri"/>
              </a:rPr>
              <a:t>       ↳  "Center for the Arts" surfaces as the venue from a description-only event.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B8941A"/>
                </a:solidFill>
                <a:latin typeface="Calibri"/>
              </a:rPr>
              <a:t>• </a:t>
            </a:r>
            <a:r>
              <a:rPr sz="1300">
                <a:solidFill>
                  <a:srgbClr val="1E1508"/>
                </a:solidFill>
                <a:latin typeface="Calibri"/>
              </a:rPr>
              <a:t>"Center for the Arts" → Grass Valley; "Miners Foundry" → Nevada City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040" i="1">
                <a:solidFill>
                  <a:srgbClr val="4A2D18"/>
                </a:solidFill>
                <a:latin typeface="Calibri"/>
              </a:rPr>
              <a:t>       ↳  Visitor filtering by Grass Valley gets concerts without manual tagging.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B8941A"/>
                </a:solidFill>
                <a:latin typeface="Calibri"/>
              </a:rPr>
              <a:t>• </a:t>
            </a:r>
            <a:r>
              <a:rPr sz="1300">
                <a:solidFill>
                  <a:srgbClr val="1E1508"/>
                </a:solidFill>
                <a:latin typeface="Calibri"/>
              </a:rPr>
              <a:t>Cluttered descriptions → clean one-line summaries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040" i="1">
                <a:solidFill>
                  <a:srgbClr val="4A2D18"/>
                </a:solidFill>
                <a:latin typeface="Calibri"/>
              </a:rPr>
              <a:t>       ↳  Long press-release blob shrinks to a clean teaser the visitor will actually read.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B8941A"/>
                </a:solidFill>
                <a:latin typeface="Calibri"/>
              </a:rPr>
              <a:t>• </a:t>
            </a:r>
            <a:r>
              <a:rPr sz="1300">
                <a:solidFill>
                  <a:srgbClr val="1E1508"/>
                </a:solidFill>
                <a:latin typeface="Calibri"/>
              </a:rPr>
              <a:t>Truckee / Sierra-side events flagged "low quality" → auto-hidden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040" i="1">
                <a:solidFill>
                  <a:srgbClr val="4A2D18"/>
                </a:solidFill>
                <a:latin typeface="Calibri"/>
              </a:rPr>
              <a:t>       ↳  Tahoe events tagged "low quality" auto-hide on the public site, no manual cleanup.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B8941A"/>
                </a:solidFill>
                <a:latin typeface="Calibri"/>
              </a:rPr>
              <a:t>• </a:t>
            </a:r>
            <a:r>
              <a:rPr sz="1300">
                <a:solidFill>
                  <a:srgbClr val="1E1508"/>
                </a:solidFill>
                <a:latin typeface="Calibri"/>
              </a:rPr>
              <a:t>Future source refreshes auto-categorize new events with the same logic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040" i="1">
                <a:solidFill>
                  <a:srgbClr val="4A2D18"/>
                </a:solidFill>
                <a:latin typeface="Calibri"/>
              </a:rPr>
              <a:t>       ↳  Tuesday's new event gets correct area + venue + tags without human touch.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691640"/>
            <a:ext cx="50292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1" i="0">
                <a:solidFill>
                  <a:srgbClr val="B8941A"/>
                </a:solidFill>
                <a:latin typeface="Calibri"/>
              </a:rPr>
              <a:t>Cost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03120"/>
            <a:ext cx="4937760" cy="384048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260604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4A2D18"/>
                </a:solidFill>
                <a:latin typeface="Calibri"/>
              </a:rPr>
              <a:t>Run pattern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148840"/>
            <a:ext cx="20574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4A2D18"/>
                </a:solidFill>
                <a:latin typeface="Calibri"/>
              </a:rPr>
              <a:t>Monthly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487168"/>
            <a:ext cx="4937760" cy="25400"/>
          </a:xfrm>
          <a:prstGeom prst="rect">
            <a:avLst/>
          </a:prstGeom>
          <a:solidFill>
            <a:srgbClr val="B89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523744"/>
            <a:ext cx="4937760" cy="41148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569464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First-time bulk (460 events)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569464"/>
            <a:ext cx="2057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~$0.30 once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980944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Daily refresh + categorize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2980944"/>
            <a:ext cx="2057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$0.30 – $0.60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346704"/>
            <a:ext cx="4937760" cy="41148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392424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Weekly refresh + categorize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3392424"/>
            <a:ext cx="2057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$0.16 – $0.52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803904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Realistic chamber operation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3803904"/>
            <a:ext cx="2057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~$0.50 – $1.00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solidFill>
            <a:srgbClr val="FBF7EE"/>
          </a:solidFill>
          <a:ln w="6350">
            <a:solidFill>
              <a:srgbClr val="B894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430" b="0" i="1">
                <a:solidFill>
                  <a:srgbClr val="4A2D18"/>
                </a:solidFill>
                <a:latin typeface="Calibri"/>
              </a:rPr>
              <a:t>Hard $5/month spending cap settable in Anthropic console — cannot be exceeded.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2D374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2D3748"/>
                </a:solidFill>
                <a:latin typeface="Calibri"/>
              </a:rPr>
              <a:t>11 / 14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B89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4A2D18"/>
                </a:solidFill>
                <a:latin typeface="Calibri"/>
              </a:rPr>
              <a:t>What it costs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B89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2D3748"/>
                </a:solidFill>
                <a:latin typeface="Calibri"/>
              </a:rPr>
              <a:t>Three operating scenarios for the first year of operation.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2606040" cy="155448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7452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5720" b="1" i="0">
                <a:solidFill>
                  <a:srgbClr val="B8941A"/>
                </a:solidFill>
                <a:latin typeface="Calibri"/>
              </a:rPr>
              <a:t>$0–$50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5176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30" b="0" i="0">
                <a:solidFill>
                  <a:srgbClr val="2D3748"/>
                </a:solidFill>
                <a:latin typeface="Calibri"/>
              </a:rPr>
              <a:t>LEAN
Free hosting + AI off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1691640"/>
            <a:ext cx="2606040" cy="155448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37560" y="187452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5720" b="1" i="0">
                <a:solidFill>
                  <a:srgbClr val="B8941A"/>
                </a:solidFill>
                <a:latin typeface="Calibri"/>
              </a:rPr>
              <a:t>$80–$150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7560" y="265176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30" b="0" i="0">
                <a:solidFill>
                  <a:srgbClr val="2D3748"/>
                </a:solidFill>
                <a:latin typeface="Calibri"/>
              </a:rPr>
              <a:t>TYPICAL
$5/mo VPS + weekly AI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691640"/>
            <a:ext cx="2606040" cy="155448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187452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5720" b="1" i="0">
                <a:solidFill>
                  <a:srgbClr val="B8941A"/>
                </a:solidFill>
                <a:latin typeface="Calibri"/>
              </a:rPr>
              <a:t>$300–$500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65176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30" b="0" i="0">
                <a:solidFill>
                  <a:srgbClr val="2D3748"/>
                </a:solidFill>
                <a:latin typeface="Calibri"/>
              </a:rPr>
              <a:t>PREMIUM
Managed + daily AI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15400" y="1691640"/>
            <a:ext cx="2606040" cy="155448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15400" y="187452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5720" b="1" i="0">
                <a:solidFill>
                  <a:srgbClr val="B8941A"/>
                </a:solidFill>
                <a:latin typeface="Calibri"/>
              </a:rPr>
              <a:t>$5K–$30K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5176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30" b="0" i="0">
                <a:solidFill>
                  <a:srgbClr val="2D3748"/>
                </a:solidFill>
                <a:latin typeface="Calibri"/>
              </a:rPr>
              <a:t>COMMERCIAL ALT.
CrowdRiff / Simpleview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520440"/>
            <a:ext cx="54864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1" i="0">
                <a:solidFill>
                  <a:srgbClr val="B8941A"/>
                </a:solidFill>
                <a:latin typeface="Calibri"/>
              </a:rPr>
              <a:t>What's NOT a 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931920"/>
            <a:ext cx="11064240" cy="2377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820" b="1">
                <a:solidFill>
                  <a:srgbClr val="B8941A"/>
                </a:solidFill>
                <a:latin typeface="Calibri"/>
              </a:rPr>
              <a:t>• </a:t>
            </a:r>
            <a:r>
              <a:rPr sz="1560">
                <a:solidFill>
                  <a:srgbClr val="1E1508"/>
                </a:solidFill>
                <a:latin typeface="Calibri"/>
              </a:rPr>
              <a:t>Per-listing fees — every chamber member free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B8941A"/>
                </a:solidFill>
                <a:latin typeface="Calibri"/>
              </a:rPr>
              <a:t>• </a:t>
            </a:r>
            <a:r>
              <a:rPr sz="1560">
                <a:solidFill>
                  <a:srgbClr val="1E1508"/>
                </a:solidFill>
                <a:latin typeface="Calibri"/>
              </a:rPr>
              <a:t>Per-event fees — event sources cost zero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B8941A"/>
                </a:solidFill>
                <a:latin typeface="Calibri"/>
              </a:rPr>
              <a:t>• </a:t>
            </a:r>
            <a:r>
              <a:rPr sz="1560">
                <a:solidFill>
                  <a:srgbClr val="1E1508"/>
                </a:solidFill>
                <a:latin typeface="Calibri"/>
              </a:rPr>
              <a:t>Per-visitor fees — traffic 10× has no impact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B8941A"/>
                </a:solidFill>
                <a:latin typeface="Calibri"/>
              </a:rPr>
              <a:t>• </a:t>
            </a:r>
            <a:r>
              <a:rPr sz="1560">
                <a:solidFill>
                  <a:srgbClr val="1E1508"/>
                </a:solidFill>
                <a:latin typeface="Calibri"/>
              </a:rPr>
              <a:t>Vendor termination fees — owned outright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B8941A"/>
                </a:solidFill>
                <a:latin typeface="Calibri"/>
              </a:rPr>
              <a:t>• </a:t>
            </a:r>
            <a:r>
              <a:rPr sz="1560">
                <a:solidFill>
                  <a:srgbClr val="1E1508"/>
                </a:solidFill>
                <a:latin typeface="Calibri"/>
              </a:rPr>
              <a:t>Privacy compliance overhead — nothing collected to comply about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B8941A"/>
                </a:solidFill>
                <a:latin typeface="Calibri"/>
              </a:rPr>
              <a:t>• </a:t>
            </a:r>
            <a:r>
              <a:rPr sz="1560">
                <a:solidFill>
                  <a:srgbClr val="1E1508"/>
                </a:solidFill>
                <a:latin typeface="Calibri"/>
              </a:rPr>
              <a:t>License fees — fully open-source stack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2D374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2D3748"/>
                </a:solidFill>
                <a:latin typeface="Calibri"/>
              </a:rPr>
              <a:t>12 / 14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B89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4A2D18"/>
                </a:solidFill>
                <a:latin typeface="Calibri"/>
              </a:rPr>
              <a:t>Where the group can take this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B89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2D3748"/>
                </a:solidFill>
                <a:latin typeface="Calibri"/>
              </a:rPr>
              <a:t>Findings from the build — collaborative work that would unlock the next version.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60" b="1" i="0">
                <a:solidFill>
                  <a:srgbClr val="B8941A"/>
                </a:solidFill>
                <a:latin typeface="Calibri"/>
              </a:rPr>
              <a:t>DATA PARTNERSHIPS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57400"/>
            <a:ext cx="365760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430" b="1">
                <a:solidFill>
                  <a:srgbClr val="B8941A"/>
                </a:solidFill>
                <a:latin typeface="Calibri"/>
              </a:rPr>
              <a:t>• </a:t>
            </a:r>
            <a:r>
              <a:rPr sz="1170">
                <a:solidFill>
                  <a:srgbClr val="1E1508"/>
                </a:solidFill>
                <a:latin typeface="Calibri"/>
              </a:rPr>
              <a:t>Ask NCAC for read access to their Trumba master — its 540-event, 16-month window is the most comprehensive feed in the county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30" b="1">
                <a:solidFill>
                  <a:srgbClr val="B8941A"/>
                </a:solidFill>
                <a:latin typeface="Calibri"/>
              </a:rPr>
              <a:t>• </a:t>
            </a:r>
            <a:r>
              <a:rPr sz="1170">
                <a:solidFill>
                  <a:srgbClr val="1E1508"/>
                </a:solidFill>
                <a:latin typeface="Calibri"/>
              </a:rPr>
              <a:t>Reach out to GoNevadaCounty (gonevadacounty.com) for a public events feed — Cloudflare blocks automated access and we lose the 13 anchor festivals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30" b="1">
                <a:solidFill>
                  <a:srgbClr val="B8941A"/>
                </a:solidFill>
                <a:latin typeface="Calibri"/>
              </a:rPr>
              <a:t>• </a:t>
            </a:r>
            <a:r>
              <a:rPr sz="1170">
                <a:solidFill>
                  <a:srgbClr val="1E1508"/>
                </a:solidFill>
                <a:latin typeface="Calibri"/>
              </a:rPr>
              <a:t>Coordinate with The Union for a public events feed — articles are paywalled and the RSS often returns nothing usable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30" b="1">
                <a:solidFill>
                  <a:srgbClr val="B8941A"/>
                </a:solidFill>
                <a:latin typeface="Calibri"/>
              </a:rPr>
              <a:t>• </a:t>
            </a:r>
            <a:r>
              <a:rPr sz="1170">
                <a:solidFill>
                  <a:srgbClr val="1E1508"/>
                </a:solidFill>
                <a:latin typeface="Calibri"/>
              </a:rPr>
              <a:t>Confirm whether the County itself runs a Trumba master calendar — if so, federate from it instead of NCAC alone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69164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60" b="1" i="0">
                <a:solidFill>
                  <a:srgbClr val="B8941A"/>
                </a:solidFill>
                <a:latin typeface="Calibri"/>
              </a:rPr>
              <a:t>MEMBER OUTREACH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057400"/>
            <a:ext cx="365760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430" b="1">
                <a:solidFill>
                  <a:srgbClr val="B8941A"/>
                </a:solidFill>
                <a:latin typeface="Calibri"/>
              </a:rPr>
              <a:t>• </a:t>
            </a:r>
            <a:r>
              <a:rPr sz="1170">
                <a:solidFill>
                  <a:srgbClr val="1E1508"/>
                </a:solidFill>
                <a:latin typeface="Calibri"/>
              </a:rPr>
              <a:t>Encourage venues to publish events on a platform with a public feed — Trumba, Tribe Events (WordPress), Eventbrite — not just static HTML pages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30" b="1">
                <a:solidFill>
                  <a:srgbClr val="B8941A"/>
                </a:solidFill>
                <a:latin typeface="Calibri"/>
              </a:rPr>
              <a:t>• </a:t>
            </a:r>
            <a:r>
              <a:rPr sz="1170">
                <a:solidFill>
                  <a:srgbClr val="1E1508"/>
                </a:solidFill>
                <a:latin typeface="Calibri"/>
              </a:rPr>
              <a:t>Push schema.org/Event JSON-LD adoption — one snippet on each event page makes auto-importing reliable without custom code per site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30" b="1">
                <a:solidFill>
                  <a:srgbClr val="B8941A"/>
                </a:solidFill>
                <a:latin typeface="Calibri"/>
              </a:rPr>
              <a:t>• </a:t>
            </a:r>
            <a:r>
              <a:rPr sz="1170">
                <a:solidFill>
                  <a:srgbClr val="1E1508"/>
                </a:solidFill>
                <a:latin typeface="Calibri"/>
              </a:rPr>
              <a:t>Promote the public "Suggest a venue or event" form to members — already wired (footer + admin queue); the lift is socialization, not engineering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30" b="1">
                <a:solidFill>
                  <a:srgbClr val="B8941A"/>
                </a:solidFill>
                <a:latin typeface="Calibri"/>
              </a:rPr>
              <a:t>• </a:t>
            </a:r>
            <a:r>
              <a:rPr sz="1170">
                <a:solidFill>
                  <a:srgbClr val="1E1508"/>
                </a:solidFill>
                <a:latin typeface="Calibri"/>
              </a:rPr>
              <a:t>Identify the 5-10 venues responsible for the bulk of visitor traffic and prioritize their data reliability over long-tail coverage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69164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60" b="1" i="0">
                <a:solidFill>
                  <a:srgbClr val="B8941A"/>
                </a:solidFill>
                <a:latin typeface="Calibri"/>
              </a:rPr>
              <a:t>OPERATIONS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057400"/>
            <a:ext cx="365760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1365" b="1">
                <a:solidFill>
                  <a:srgbClr val="B8941A"/>
                </a:solidFill>
                <a:latin typeface="Calibri"/>
              </a:rPr>
              <a:t>• </a:t>
            </a:r>
            <a:r>
              <a:rPr sz="1105">
                <a:solidFill>
                  <a:srgbClr val="1E1508"/>
                </a:solidFill>
                <a:latin typeface="Calibri"/>
              </a:rPr>
              <a:t>Schedule the scraper to run nightly via Windows Task Scheduler / cron / systemd — auto-prune of past events is built in but only fires when the scraper runs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65" b="1">
                <a:solidFill>
                  <a:srgbClr val="B8941A"/>
                </a:solidFill>
                <a:latin typeface="Calibri"/>
              </a:rPr>
              <a:t>• </a:t>
            </a:r>
            <a:r>
              <a:rPr sz="1105">
                <a:solidFill>
                  <a:srgbClr val="1E1508"/>
                </a:solidFill>
                <a:latin typeface="Calibri"/>
              </a:rPr>
              <a:t>Designate a queue curator — someone clears the pending-events queue 1-2x per week (Approve / Dismiss takes ~5 minutes per session)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65" b="1">
                <a:solidFill>
                  <a:srgbClr val="B8941A"/>
                </a:solidFill>
                <a:latin typeface="Calibri"/>
              </a:rPr>
              <a:t>• </a:t>
            </a:r>
            <a:r>
              <a:rPr sz="1105">
                <a:solidFill>
                  <a:srgbClr val="1E1508"/>
                </a:solidFill>
                <a:latin typeface="Calibri"/>
              </a:rPr>
              <a:t>Click 🧹 Prune Past between scrapes for ad-hoc cleanup — same logic as the auto-prune, useful when events get added or dismissed off-cycle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65" b="1">
                <a:solidFill>
                  <a:srgbClr val="B8941A"/>
                </a:solidFill>
                <a:latin typeface="Calibri"/>
              </a:rPr>
              <a:t>• </a:t>
            </a:r>
            <a:r>
              <a:rPr sz="1105">
                <a:solidFill>
                  <a:srgbClr val="1E1508"/>
                </a:solidFill>
                <a:latin typeface="Calibri"/>
              </a:rPr>
              <a:t>Run AI Categorize after each refresh — fixes venue, area, tags on long-tail events ($0.50/mo)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65" b="1">
                <a:solidFill>
                  <a:srgbClr val="B8941A"/>
                </a:solidFill>
                <a:latin typeface="Calibri"/>
              </a:rPr>
              <a:t>• </a:t>
            </a:r>
            <a:r>
              <a:rPr sz="1105">
                <a:solidFill>
                  <a:srgbClr val="1E1508"/>
                </a:solidFill>
                <a:latin typeface="Calibri"/>
              </a:rPr>
              <a:t>Validate "no event" alerts — when a source returns 0 events, it has either gone down or restructured (NCAC was a false negative for months before we caught it)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65" b="1">
                <a:solidFill>
                  <a:srgbClr val="B8941A"/>
                </a:solidFill>
                <a:latin typeface="Calibri"/>
              </a:rPr>
              <a:t>• </a:t>
            </a:r>
            <a:r>
              <a:rPr sz="1105">
                <a:solidFill>
                  <a:srgbClr val="1E1508"/>
                </a:solidFill>
                <a:latin typeface="Calibri"/>
              </a:rPr>
              <a:t>Quarterly review of disabled sources — vendors change platforms (e.g. NCAC moved to Trumba) and previously-blocked sources become reachable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solidFill>
            <a:srgbClr val="FBF7EE"/>
          </a:solidFill>
          <a:ln w="6350">
            <a:solidFill>
              <a:srgbClr val="B894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300" b="0" i="1">
                <a:solidFill>
                  <a:srgbClr val="4A2D18"/>
                </a:solidFill>
                <a:latin typeface="Calibri"/>
              </a:rPr>
              <a:t>Concrete win from this work:  NCAC's calendar went from "0 events" (blocked by an iframe) to 540 events — by hitting Trumba's JSON feed directly.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2D374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2D3748"/>
                </a:solidFill>
                <a:latin typeface="Calibri"/>
              </a:rPr>
              <a:t>13 / 14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B89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4A2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73152" cy="6858000"/>
          </a:xfrm>
          <a:prstGeom prst="rect">
            <a:avLst/>
          </a:prstGeom>
          <a:solidFill>
            <a:srgbClr val="B89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94560"/>
            <a:ext cx="338328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5720" b="1" i="0">
                <a:solidFill>
                  <a:srgbClr val="E8C96A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08960"/>
            <a:ext cx="33832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860" b="0" i="1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194560"/>
            <a:ext cx="71323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1" i="0">
                <a:solidFill>
                  <a:srgbClr val="B8941A"/>
                </a:solidFill>
                <a:latin typeface="Calibri"/>
              </a:rPr>
              <a:t>The leave-behind one-liner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480560" y="2606040"/>
            <a:ext cx="6858000" cy="25400"/>
          </a:xfrm>
          <a:prstGeom prst="rect">
            <a:avLst/>
          </a:prstGeom>
          <a:solidFill>
            <a:srgbClr val="B89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2788920"/>
            <a:ext cx="7132320" cy="2286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4A2D18"/>
                </a:solidFill>
                <a:latin typeface="Calibri"/>
              </a:rPr>
              <a:t>"This isn't a website — it's a planning workspace for visitors and a living directory for the chamber, with AI-assisted curation built in. Privacy-respecting by default, owned by the county outright, maintained in minutes per week."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5120640"/>
            <a:ext cx="7132320" cy="1371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2D3748"/>
                </a:solidFill>
                <a:latin typeface="Consolas"/>
              </a:rPr>
              <a:t>Live demo:  liammlrb-eng.github.io/nevada-county-experiences
Repo:       github.com/liammlrb-eng/nevada-county-experiences
Pitch deck: demo_pitch.pdf  ·  Operator guide: operator_guide.pdf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0" y="411480"/>
            <a:ext cx="38404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1" i="0">
                <a:solidFill>
                  <a:srgbClr val="B8941A"/>
                </a:solidFill>
                <a:latin typeface="Calibri"/>
              </a:rPr>
              <a:t>APPENDIX  ·  PULL UP IF ASKED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4A2D18"/>
                </a:solidFill>
                <a:latin typeface="Calibri"/>
              </a:rPr>
              <a:t>Migration to a county server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B89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2D3748"/>
                </a:solidFill>
                <a:latin typeface="Calibri"/>
              </a:rPr>
              <a:t>One focused half-day for someone comfortable with Linux; two days for a learner.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11064240" cy="384048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132588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4A2D18"/>
                </a:solidFill>
                <a:latin typeface="Calibri"/>
              </a:rPr>
              <a:t>Phase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1737360"/>
            <a:ext cx="946404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4A2D18"/>
                </a:solidFill>
                <a:latin typeface="Calibri"/>
              </a:rPr>
              <a:t>What happens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75688"/>
            <a:ext cx="11064240" cy="25400"/>
          </a:xfrm>
          <a:prstGeom prst="rect">
            <a:avLst/>
          </a:prstGeom>
          <a:solidFill>
            <a:srgbClr val="B89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112264"/>
            <a:ext cx="11064240" cy="3657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15798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Phase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215798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Decisions: hosting (DigitalOcean $6/mo recommended), domain, OS, server account ownership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2374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Phase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252374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Pre-flight: domain registered, DNS access, SSH keys ready, Anthropic API key generated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843784"/>
            <a:ext cx="11064240" cy="3657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88950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Phase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288950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Provision: $6/mo Ubuntu droplet, lockdown SSH, install Python + nginx + chromium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25526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Phase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325526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Deploy: git clone, Python venv, install deps, drop API keys in the config file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575304"/>
            <a:ext cx="11064240" cy="3657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62102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Phase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20" y="362102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systemd service for auto-restart on crash, auto-start on reboot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98678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Phase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398678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nginx reverse proxy + Let's Encrypt HTTPS (auto-renew via certbot)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306824"/>
            <a:ext cx="11064240" cy="3657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35254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Phase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20" y="435254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Schedule nightly: source refresh at 3 AM + AI categorize at 3:30 AM (refresh triggers auto-prune; skip this step and expired events pile up in the queue)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71830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Phase 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03120" y="471830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Backups: provider snapshots ($1/mo) + daily JSON tar to off-site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038344"/>
            <a:ext cx="11064240" cy="3657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08406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Phase 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03120" y="508406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Test checklist: site loads, vibes work, events populate, AI button works, source updates run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44982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Phase 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03120" y="544982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Hand-off to chamber: admin URL, billing alerts, cheat sheet, emergency contact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2D374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2D3748"/>
                </a:solidFill>
                <a:latin typeface="Calibri"/>
              </a:rPr>
              <a:t>A1 / A1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B89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