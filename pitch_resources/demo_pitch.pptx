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5C3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0" y="0"/>
            <a:ext cx="73152" cy="68580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3383280" cy="22860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4400" b="1" i="0">
                <a:solidFill>
                  <a:srgbClr val="E8C96A"/>
                </a:solidFill>
                <a:latin typeface="Calibri"/>
              </a:rPr>
              <a:t>Western
Nevada
County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023360"/>
            <a:ext cx="338328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200" b="0" i="1">
                <a:solidFill>
                  <a:srgbClr val="FFFFFF"/>
                </a:solidFill>
                <a:latin typeface="Calibri"/>
              </a:rPr>
              <a:t>Experience Finder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80560" y="2743200"/>
            <a:ext cx="713232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000" b="1" i="0">
                <a:solidFill>
                  <a:srgbClr val="5C3A1F"/>
                </a:solidFill>
                <a:latin typeface="Calibri"/>
              </a:rPr>
              <a:t>Visitor planning platform — county pitch deck</a:t>
            </a:r>
          </a:p>
        </p:txBody>
      </p:sp>
      <p:sp>
        <p:nvSpPr>
          <p:cNvPr id="7" name="Rectangle 6"/>
          <p:cNvSpPr/>
          <p:nvPr/>
        </p:nvSpPr>
        <p:spPr>
          <a:xfrm>
            <a:off x="4480560" y="3291840"/>
            <a:ext cx="6858000" cy="254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560" y="3520440"/>
            <a:ext cx="7132320" cy="22860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 i="0">
                <a:solidFill>
                  <a:srgbClr val="4A5568"/>
                </a:solidFill>
                <a:latin typeface="Calibri"/>
              </a:rPr>
              <a:t>A purpose-built tourism platform combining 161 curated experiences with 460+ live local events. Privacy-first, opt-in, no tracking.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200" b="1" i="0">
                <a:solidFill>
                  <a:srgbClr val="5C3A1F"/>
                </a:solidFill>
                <a:latin typeface="Calibri"/>
              </a:rPr>
              <a:t>The strategic insight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78992"/>
            <a:ext cx="11064240" cy="254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07008"/>
            <a:ext cx="110642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 i="1">
                <a:solidFill>
                  <a:srgbClr val="4A5568"/>
                </a:solidFill>
                <a:latin typeface="Calibri"/>
              </a:rPr>
              <a:t>What sets this apart from a generic tourism site.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11064240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0" i="0">
                <a:solidFill>
                  <a:srgbClr val="1E1508"/>
                </a:solidFill>
                <a:latin typeface="Calibri"/>
              </a:rPr>
              <a:t>Most tourism sites optimize for visits to the site. The right metric is lodging bookings driven by the site. Those are different optimization targets.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606040"/>
            <a:ext cx="11064240" cy="3200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C9A84C"/>
                </a:solidFill>
                <a:latin typeface="Calibri"/>
              </a:rPr>
              <a:t>• </a:t>
            </a:r>
            <a:r>
              <a:rPr sz="1100">
                <a:solidFill>
                  <a:srgbClr val="1E1508"/>
                </a:solidFill>
                <a:latin typeface="Calibri"/>
              </a:rPr>
              <a:t>Day-by-day itinerary view structurally surfaces the "where do I sleep?" question</a:t>
            </a:r>
          </a:p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00" i="1">
                <a:solidFill>
                  <a:srgbClr val="5C3A1F"/>
                </a:solidFill>
                <a:latin typeface="Calibri"/>
              </a:rPr>
              <a:t>       ↳  Visitor sees Day 2 has no hotel and books one before leaving the page.</a:t>
            </a:r>
          </a:p>
          <a:p>
            <a:pPr algn="l">
              <a:lnSpc>
                <a:spcPct val="120000"/>
              </a:lnSpc>
              <a:spcBef>
                <a:spcPts val="400"/>
              </a:spcBef>
            </a:pPr>
            <a:r>
              <a:rPr sz="1300" b="1">
                <a:solidFill>
                  <a:srgbClr val="C9A84C"/>
                </a:solidFill>
                <a:latin typeface="Calibri"/>
              </a:rPr>
              <a:t>• </a:t>
            </a:r>
            <a:r>
              <a:rPr sz="1100">
                <a:solidFill>
                  <a:srgbClr val="1E1508"/>
                </a:solidFill>
                <a:latin typeface="Calibri"/>
              </a:rPr>
              <a:t>"Find Lodging" CTA at the top of every itinerary — booking always one click away</a:t>
            </a:r>
          </a:p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00" i="1">
                <a:solidFill>
                  <a:srgbClr val="5C3A1F"/>
                </a:solidFill>
                <a:latin typeface="Calibri"/>
              </a:rPr>
              <a:t>       ↳  No hunting for a button — booking decision is visible on every itinerary view.</a:t>
            </a:r>
          </a:p>
          <a:p>
            <a:pPr algn="l">
              <a:lnSpc>
                <a:spcPct val="120000"/>
              </a:lnSpc>
              <a:spcBef>
                <a:spcPts val="400"/>
              </a:spcBef>
            </a:pPr>
            <a:r>
              <a:rPr sz="1300" b="1">
                <a:solidFill>
                  <a:srgbClr val="C9A84C"/>
                </a:solidFill>
                <a:latin typeface="Calibri"/>
              </a:rPr>
              <a:t>• </a:t>
            </a:r>
            <a:r>
              <a:rPr sz="1100">
                <a:solidFill>
                  <a:srgbClr val="1E1508"/>
                </a:solidFill>
                <a:latin typeface="Calibri"/>
              </a:rPr>
              <a:t>Empty lodging slots create a visual gap that drives the booking decision</a:t>
            </a:r>
          </a:p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00" i="1">
                <a:solidFill>
                  <a:srgbClr val="5C3A1F"/>
                </a:solidFill>
                <a:latin typeface="Calibri"/>
              </a:rPr>
              <a:t>       ↳  That blank Day 2 stay tile is psychologically jarring; the visitor fills it.</a:t>
            </a:r>
          </a:p>
          <a:p>
            <a:pPr algn="l">
              <a:lnSpc>
                <a:spcPct val="120000"/>
              </a:lnSpc>
              <a:spcBef>
                <a:spcPts val="400"/>
              </a:spcBef>
            </a:pPr>
            <a:r>
              <a:rPr sz="1300" b="1">
                <a:solidFill>
                  <a:srgbClr val="C9A84C"/>
                </a:solidFill>
                <a:latin typeface="Calibri"/>
              </a:rPr>
              <a:t>• </a:t>
            </a:r>
            <a:r>
              <a:rPr sz="1100">
                <a:solidFill>
                  <a:srgbClr val="1E1508"/>
                </a:solidFill>
                <a:latin typeface="Calibri"/>
              </a:rPr>
              <a:t>New items default to the latest day — no day-1 pile-up; trip naturally fills out</a:t>
            </a:r>
          </a:p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00" i="1">
                <a:solidFill>
                  <a:srgbClr val="5C3A1F"/>
                </a:solidFill>
                <a:latin typeface="Calibri"/>
              </a:rPr>
              <a:t>       ↳  Adding stops naturally extends the trip rather than cramming Day 1.</a:t>
            </a:r>
          </a:p>
          <a:p>
            <a:pPr algn="l">
              <a:lnSpc>
                <a:spcPct val="120000"/>
              </a:lnSpc>
              <a:spcBef>
                <a:spcPts val="400"/>
              </a:spcBef>
            </a:pPr>
            <a:r>
              <a:rPr sz="1300" b="1">
                <a:solidFill>
                  <a:srgbClr val="C9A84C"/>
                </a:solidFill>
                <a:latin typeface="Calibri"/>
              </a:rPr>
              <a:t>• </a:t>
            </a:r>
            <a:r>
              <a:rPr sz="1100">
                <a:solidFill>
                  <a:srgbClr val="1E1508"/>
                </a:solidFill>
                <a:latin typeface="Calibri"/>
              </a:rPr>
              <a:t>Print view goes long-form per day — visitors who print, follow it</a:t>
            </a:r>
          </a:p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00" i="1">
                <a:solidFill>
                  <a:srgbClr val="5C3A1F"/>
                </a:solidFill>
                <a:latin typeface="Calibri"/>
              </a:rPr>
              <a:t>       ↳  Couple prints the itinerary; the same Day 1 / Day 2 structure follows on paper.</a:t>
            </a:r>
          </a:p>
          <a:p>
            <a:pPr algn="l">
              <a:lnSpc>
                <a:spcPct val="120000"/>
              </a:lnSpc>
              <a:spcBef>
                <a:spcPts val="400"/>
              </a:spcBef>
            </a:pPr>
            <a:r>
              <a:rPr sz="1300" b="1">
                <a:solidFill>
                  <a:srgbClr val="C9A84C"/>
                </a:solidFill>
                <a:latin typeface="Calibri"/>
              </a:rPr>
              <a:t>• </a:t>
            </a:r>
            <a:r>
              <a:rPr sz="1100">
                <a:solidFill>
                  <a:srgbClr val="1E1508"/>
                </a:solidFill>
                <a:latin typeface="Calibri"/>
              </a:rPr>
              <a:t>Smart suggestions are tag + geography aware — clusters keep visitors close to lodging</a:t>
            </a:r>
          </a:p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00" i="1">
                <a:solidFill>
                  <a:srgbClr val="5C3A1F"/>
                </a:solidFill>
                <a:latin typeface="Calibri"/>
              </a:rPr>
              <a:t>       ↳  After Holbrooke Hotel goes in, suggestions cluster around Mill Street.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5669280"/>
            <a:ext cx="11064240" cy="640080"/>
          </a:xfrm>
          <a:prstGeom prst="rect">
            <a:avLst/>
          </a:prstGeom>
          <a:solidFill>
            <a:srgbClr val="FBF7EE"/>
          </a:solidFill>
          <a:ln w="63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715000"/>
            <a:ext cx="1088136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300" b="0" i="1">
                <a:solidFill>
                  <a:srgbClr val="5C3A1F"/>
                </a:solidFill>
                <a:latin typeface="Calibri"/>
              </a:rPr>
              <a:t>"Convince a visitor to add one more night and you double or triple local revenue."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 i="0">
                <a:solidFill>
                  <a:srgbClr val="4A5568"/>
                </a:solidFill>
                <a:latin typeface="Calibri"/>
              </a:rPr>
              <a:t>Western Nevada County Experience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92240"/>
            <a:ext cx="109728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4A5568"/>
                </a:solidFill>
                <a:latin typeface="Calibri"/>
              </a:rPr>
              <a:t>2 / 14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455664"/>
            <a:ext cx="11064240" cy="254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200" b="1" i="0">
                <a:solidFill>
                  <a:srgbClr val="5C3A1F"/>
                </a:solidFill>
                <a:latin typeface="Calibri"/>
              </a:rPr>
              <a:t>What this is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78992"/>
            <a:ext cx="11064240" cy="254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07008"/>
            <a:ext cx="110642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 i="1">
                <a:solidFill>
                  <a:srgbClr val="4A5568"/>
                </a:solidFill>
                <a:latin typeface="Calibri"/>
              </a:rPr>
              <a:t>A tourism platform for Western Nevada County — Gold Country foothills.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83080"/>
            <a:ext cx="11064240" cy="12801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0" i="0">
                <a:solidFill>
                  <a:srgbClr val="1E1508"/>
                </a:solidFill>
                <a:latin typeface="Calibri"/>
              </a:rPr>
              <a:t>A purpose-built tourism platform for Western Nevada County — centered on Nevada City and Grass Valley, with full coverage of Penn Valley, North San Juan, Rough &amp; Ready, Washington, Chicago Park, Smartsville, and adjacent Colfax. The platform combines curated places with live local events, so visitors discover what to do AND when it's actually happening.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3200400"/>
            <a:ext cx="2606040" cy="1463040"/>
          </a:xfrm>
          <a:prstGeom prst="rect">
            <a:avLst/>
          </a:prstGeom>
          <a:solidFill>
            <a:srgbClr val="F5EFE2"/>
          </a:solidFill>
          <a:ln w="6350">
            <a:solidFill>
              <a:srgbClr val="D4C9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3383280"/>
            <a:ext cx="260604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4400" b="1" i="0">
                <a:solidFill>
                  <a:srgbClr val="C9A84C"/>
                </a:solidFill>
                <a:latin typeface="Calibri"/>
              </a:rPr>
              <a:t>161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160520"/>
            <a:ext cx="26060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100" b="0" i="0">
                <a:solidFill>
                  <a:srgbClr val="4A5568"/>
                </a:solidFill>
                <a:latin typeface="Calibri"/>
              </a:rPr>
              <a:t>Curated experiences
across 11 communities</a:t>
            </a:r>
          </a:p>
        </p:txBody>
      </p:sp>
      <p:sp>
        <p:nvSpPr>
          <p:cNvPr id="9" name="Rectangle 8"/>
          <p:cNvSpPr/>
          <p:nvPr/>
        </p:nvSpPr>
        <p:spPr>
          <a:xfrm>
            <a:off x="3337560" y="3200400"/>
            <a:ext cx="2606040" cy="1463040"/>
          </a:xfrm>
          <a:prstGeom prst="rect">
            <a:avLst/>
          </a:prstGeom>
          <a:solidFill>
            <a:srgbClr val="F5EFE2"/>
          </a:solidFill>
          <a:ln w="6350">
            <a:solidFill>
              <a:srgbClr val="D4C9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3383280"/>
            <a:ext cx="260604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4400" b="1" i="0">
                <a:solidFill>
                  <a:srgbClr val="C9A84C"/>
                </a:solidFill>
                <a:latin typeface="Calibri"/>
              </a:rPr>
              <a:t>460+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4160520"/>
            <a:ext cx="26060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100" b="0" i="0">
                <a:solidFill>
                  <a:srgbClr val="4A5568"/>
                </a:solidFill>
                <a:latin typeface="Calibri"/>
              </a:rPr>
              <a:t>Live events from
6 sources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3200400"/>
            <a:ext cx="2606040" cy="1463040"/>
          </a:xfrm>
          <a:prstGeom prst="rect">
            <a:avLst/>
          </a:prstGeom>
          <a:solidFill>
            <a:srgbClr val="F5EFE2"/>
          </a:solidFill>
          <a:ln w="6350">
            <a:solidFill>
              <a:srgbClr val="D4C9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0" y="3383280"/>
            <a:ext cx="260604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4400" b="1" i="0">
                <a:solidFill>
                  <a:srgbClr val="C9A84C"/>
                </a:solidFill>
                <a:latin typeface="Calibri"/>
              </a:rPr>
              <a:t>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4160520"/>
            <a:ext cx="26060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100" b="0" i="0">
                <a:solidFill>
                  <a:srgbClr val="4A5568"/>
                </a:solidFill>
                <a:latin typeface="Calibri"/>
              </a:rPr>
              <a:t>Themed vibes
for discovery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915400" y="3200400"/>
            <a:ext cx="2606040" cy="1463040"/>
          </a:xfrm>
          <a:prstGeom prst="rect">
            <a:avLst/>
          </a:prstGeom>
          <a:solidFill>
            <a:srgbClr val="F5EFE2"/>
          </a:solidFill>
          <a:ln w="6350">
            <a:solidFill>
              <a:srgbClr val="D4C9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15400" y="3383280"/>
            <a:ext cx="260604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4400" b="1" i="0">
                <a:solidFill>
                  <a:srgbClr val="C9A84C"/>
                </a:solidFill>
                <a:latin typeface="Calibri"/>
              </a:rPr>
              <a:t>$5–$20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15400" y="4160520"/>
            <a:ext cx="26060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100" b="0" i="0">
                <a:solidFill>
                  <a:srgbClr val="4A5568"/>
                </a:solidFill>
                <a:latin typeface="Calibri"/>
              </a:rPr>
              <a:t>Typical
monthly cost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937760"/>
            <a:ext cx="1106424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 i="1">
                <a:solidFill>
                  <a:srgbClr val="4A5568"/>
                </a:solidFill>
                <a:latin typeface="Calibri"/>
              </a:rPr>
              <a:t>Geographic scope: Western Nevada County (Gold Country foothills) + adjacent Colfax.
Truckee and Sierra-side communities are out of scope for this build.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 i="0">
                <a:solidFill>
                  <a:srgbClr val="4A5568"/>
                </a:solidFill>
                <a:latin typeface="Calibri"/>
              </a:rPr>
              <a:t>Western Nevada County Experience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0" y="6492240"/>
            <a:ext cx="109728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4A5568"/>
                </a:solidFill>
                <a:latin typeface="Calibri"/>
              </a:rPr>
              <a:t>3 / 14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6455664"/>
            <a:ext cx="11064240" cy="254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200" b="1" i="0">
                <a:solidFill>
                  <a:srgbClr val="5C3A1F"/>
                </a:solidFill>
                <a:latin typeface="Calibri"/>
              </a:rPr>
              <a:t>How visitors discover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78992"/>
            <a:ext cx="11064240" cy="254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07008"/>
            <a:ext cx="110642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 i="1">
                <a:solidFill>
                  <a:srgbClr val="4A5568"/>
                </a:solidFill>
                <a:latin typeface="Calibri"/>
              </a:rPr>
              <a:t>Multiple paths to "I found it" — works for browse-mode and date-mode visitors.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00200"/>
            <a:ext cx="11064240" cy="384048"/>
          </a:xfrm>
          <a:prstGeom prst="rect">
            <a:avLst/>
          </a:prstGeom>
          <a:solidFill>
            <a:srgbClr val="F5EF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45920"/>
            <a:ext cx="2971800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1" i="0">
                <a:solidFill>
                  <a:srgbClr val="5C3A1F"/>
                </a:solidFill>
                <a:latin typeface="Calibri"/>
              </a:rPr>
              <a:t>Discovery path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49040" y="1645920"/>
            <a:ext cx="7818119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1" i="0">
                <a:solidFill>
                  <a:srgbClr val="5C3A1F"/>
                </a:solidFill>
                <a:latin typeface="Calibri"/>
              </a:rPr>
              <a:t>What it does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84248"/>
            <a:ext cx="11064240" cy="254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20824"/>
            <a:ext cx="11064240" cy="594360"/>
          </a:xfrm>
          <a:prstGeom prst="rect">
            <a:avLst/>
          </a:prstGeom>
          <a:solidFill>
            <a:srgbClr val="FB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066544"/>
            <a:ext cx="297180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1E1508"/>
                </a:solidFill>
                <a:latin typeface="Calibri"/>
              </a:rPr>
              <a:t>Themed vibes (9 cards)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40" y="2057400"/>
            <a:ext cx="7818119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1E1508"/>
                </a:solidFill>
                <a:latin typeface="Calibri"/>
              </a:rPr>
              <a:t>Historic · Arts · Hands-On · Foodie · Active · Relaxed · Wellness · Family · Festivals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40" y="2331720"/>
            <a:ext cx="7818119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800" b="0" i="1">
                <a:solidFill>
                  <a:srgbClr val="5C3A1F"/>
                </a:solidFill>
                <a:latin typeface="Calibri"/>
              </a:rPr>
              <a:t>↳  No-plan visitor taps "Foodie" — relevant cards instantly filter in.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660904"/>
            <a:ext cx="297180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1E1508"/>
                </a:solidFill>
                <a:latin typeface="Calibri"/>
              </a:rPr>
              <a:t>Vibe-level pills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40" y="2651760"/>
            <a:ext cx="7818119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1E1508"/>
                </a:solidFill>
                <a:latin typeface="Calibri"/>
              </a:rPr>
              <a:t>Pick Foodie → narrow to Restaurants / Wineries / Markets / Bakeries / Food Events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49040" y="2926080"/>
            <a:ext cx="7818119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800" b="0" i="1">
                <a:solidFill>
                  <a:srgbClr val="5C3A1F"/>
                </a:solidFill>
                <a:latin typeface="Calibri"/>
              </a:rPr>
              <a:t>↳  Foodie visitor switches to "Wineries only" without leaving the vibe.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209544"/>
            <a:ext cx="11064240" cy="594360"/>
          </a:xfrm>
          <a:prstGeom prst="rect">
            <a:avLst/>
          </a:prstGeom>
          <a:solidFill>
            <a:srgbClr val="FB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255264"/>
            <a:ext cx="297180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1E1508"/>
                </a:solidFill>
                <a:latin typeface="Calibri"/>
              </a:rPr>
              <a:t>Category dropdown + sub-pills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40" y="3246120"/>
            <a:ext cx="7818119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1E1508"/>
                </a:solidFill>
                <a:latin typeface="Calibri"/>
              </a:rPr>
              <a:t>Lodging → Hotels / B&amp;Bs / Glamping / Campgrounds / RV  (and more)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49040" y="3520440"/>
            <a:ext cx="7818119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800" b="0" i="1">
                <a:solidFill>
                  <a:srgbClr val="5C3A1F"/>
                </a:solidFill>
                <a:latin typeface="Calibri"/>
              </a:rPr>
              <a:t>↳  Family of four picks Lodging → B&amp;Bs to find character stays over chains.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3849624"/>
            <a:ext cx="297180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1E1508"/>
                </a:solidFill>
                <a:latin typeface="Calibri"/>
              </a:rPr>
              <a:t>Activity tags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49040" y="3840480"/>
            <a:ext cx="7818119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1E1508"/>
                </a:solidFill>
                <a:latin typeface="Calibri"/>
              </a:rPr>
              <a:t>Hiking · Biking · Swimming · Fishing · Boating · Running on every relevant card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49040" y="4114800"/>
            <a:ext cx="7818119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800" b="0" i="1">
                <a:solidFill>
                  <a:srgbClr val="5C3A1F"/>
                </a:solidFill>
                <a:latin typeface="Calibri"/>
              </a:rPr>
              <a:t>↳  Mountain biker scrolls and immediately spots cards tagged "Biking".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4398264"/>
            <a:ext cx="11064240" cy="594360"/>
          </a:xfrm>
          <a:prstGeom prst="rect">
            <a:avLst/>
          </a:prstGeom>
          <a:solidFill>
            <a:srgbClr val="FB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4443984"/>
            <a:ext cx="297180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1E1508"/>
                </a:solidFill>
                <a:latin typeface="Calibri"/>
              </a:rPr>
              <a:t>Date filter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49040" y="4434840"/>
            <a:ext cx="7818119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1E1508"/>
                </a:solidFill>
                <a:latin typeface="Calibri"/>
              </a:rPr>
              <a:t>All Future (default) · Today · Weekend · Week — auto-clears summer-only items in winter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49040" y="4709160"/>
            <a:ext cx="7818119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800" b="0" i="1">
                <a:solidFill>
                  <a:srgbClr val="5C3A1F"/>
                </a:solidFill>
                <a:latin typeface="Calibri"/>
              </a:rPr>
              <a:t>↳  One-tap "Weekend" — only Sat/Sun events remain across every vibe.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5038344"/>
            <a:ext cx="297180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1E1508"/>
                </a:solidFill>
                <a:latin typeface="Calibri"/>
              </a:rPr>
              <a:t>Area filter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49040" y="5029200"/>
            <a:ext cx="7818119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1E1508"/>
                </a:solidFill>
                <a:latin typeface="Calibri"/>
              </a:rPr>
              <a:t>County-wide events show for any local area; city events filter normally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49040" y="5303520"/>
            <a:ext cx="7818119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800" b="0" i="1">
                <a:solidFill>
                  <a:srgbClr val="5C3A1F"/>
                </a:solidFill>
                <a:latin typeface="Calibri"/>
              </a:rPr>
              <a:t>↳  Penn Valley resident filters out Nevada City clutter for a local night out.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5586984"/>
            <a:ext cx="11064240" cy="594360"/>
          </a:xfrm>
          <a:prstGeom prst="rect">
            <a:avLst/>
          </a:prstGeom>
          <a:solidFill>
            <a:srgbClr val="FB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5632704"/>
            <a:ext cx="297180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1E1508"/>
                </a:solidFill>
                <a:latin typeface="Calibri"/>
              </a:rPr>
              <a:t>Tag-aware Smart Suggestions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749040" y="5623560"/>
            <a:ext cx="7818119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1E1508"/>
                </a:solidFill>
                <a:latin typeface="Calibri"/>
              </a:rPr>
              <a:t>"More to Explore" panel in the itinerary — geographic + tag scoring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749040" y="5897880"/>
            <a:ext cx="7818119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800" b="0" i="1">
                <a:solidFill>
                  <a:srgbClr val="5C3A1F"/>
                </a:solidFill>
                <a:latin typeface="Calibri"/>
              </a:rPr>
              <a:t>↳  After Empire Mine goes in, the panel surfaces Holbrooke Hotel 0.4 mi away.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 i="0">
                <a:solidFill>
                  <a:srgbClr val="4A5568"/>
                </a:solidFill>
                <a:latin typeface="Calibri"/>
              </a:rPr>
              <a:t>Western Nevada County Experience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15600" y="6492240"/>
            <a:ext cx="109728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4A5568"/>
                </a:solidFill>
                <a:latin typeface="Calibri"/>
              </a:rPr>
              <a:t>4 / 14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6455664"/>
            <a:ext cx="11064240" cy="254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200" b="1" i="0">
                <a:solidFill>
                  <a:srgbClr val="5C3A1F"/>
                </a:solidFill>
                <a:latin typeface="Calibri"/>
              </a:rPr>
              <a:t>Day-by-day itinerary builder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78992"/>
            <a:ext cx="11064240" cy="254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07008"/>
            <a:ext cx="110642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 i="1">
                <a:solidFill>
                  <a:srgbClr val="4A5568"/>
                </a:solidFill>
                <a:latin typeface="Calibri"/>
              </a:rPr>
              <a:t>Visitors think in nights, not stops — the planner reflects that.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00200"/>
            <a:ext cx="6400800" cy="4846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C9A84C"/>
                </a:solidFill>
                <a:latin typeface="Calibri"/>
              </a:rPr>
              <a:t>• </a:t>
            </a:r>
            <a:r>
              <a:rPr sz="1100">
                <a:solidFill>
                  <a:srgbClr val="1E1508"/>
                </a:solidFill>
                <a:latin typeface="Calibri"/>
              </a:rPr>
              <a:t>Each day has its own card with a numbered header and calendar date</a:t>
            </a:r>
          </a:p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00" i="1">
                <a:solidFill>
                  <a:srgbClr val="5C3A1F"/>
                </a:solidFill>
                <a:latin typeface="Calibri"/>
              </a:rPr>
              <a:t>       ↳  Visitor sees "Day 1: Sat May 17" instead of an undifferentiated stop list.</a:t>
            </a:r>
          </a:p>
          <a:p>
            <a:pPr algn="l">
              <a:lnSpc>
                <a:spcPct val="120000"/>
              </a:lnSpc>
              <a:spcBef>
                <a:spcPts val="400"/>
              </a:spcBef>
            </a:pPr>
            <a:r>
              <a:rPr sz="1300" b="1">
                <a:solidFill>
                  <a:srgbClr val="C9A84C"/>
                </a:solidFill>
                <a:latin typeface="Calibri"/>
              </a:rPr>
              <a:t>• </a:t>
            </a:r>
            <a:r>
              <a:rPr sz="1100">
                <a:solidFill>
                  <a:srgbClr val="1E1508"/>
                </a:solidFill>
                <a:latin typeface="Calibri"/>
              </a:rPr>
              <a:t>Per-day "Tonight's Stay" lodging slot — empty slots prompt for booking</a:t>
            </a:r>
          </a:p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00" i="1">
                <a:solidFill>
                  <a:srgbClr val="5C3A1F"/>
                </a:solidFill>
                <a:latin typeface="Calibri"/>
              </a:rPr>
              <a:t>       ↳  Empty Day 2 stay tile reminds the visitor they haven't booked Sunday yet.</a:t>
            </a:r>
          </a:p>
          <a:p>
            <a:pPr algn="l">
              <a:lnSpc>
                <a:spcPct val="120000"/>
              </a:lnSpc>
              <a:spcBef>
                <a:spcPts val="400"/>
              </a:spcBef>
            </a:pPr>
            <a:r>
              <a:rPr sz="1300" b="1">
                <a:solidFill>
                  <a:srgbClr val="C9A84C"/>
                </a:solidFill>
                <a:latin typeface="Calibri"/>
              </a:rPr>
              <a:t>• </a:t>
            </a:r>
            <a:r>
              <a:rPr sz="1100">
                <a:solidFill>
                  <a:srgbClr val="1E1508"/>
                </a:solidFill>
                <a:latin typeface="Calibri"/>
              </a:rPr>
              <a:t>Drag-free move-between-days dropdown on every item</a:t>
            </a:r>
          </a:p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00" i="1">
                <a:solidFill>
                  <a:srgbClr val="5C3A1F"/>
                </a:solidFill>
                <a:latin typeface="Calibri"/>
              </a:rPr>
              <a:t>       ↳  Spouse on phone moves Friday's hike to Saturday in two taps.</a:t>
            </a:r>
          </a:p>
          <a:p>
            <a:pPr algn="l">
              <a:lnSpc>
                <a:spcPct val="120000"/>
              </a:lnSpc>
              <a:spcBef>
                <a:spcPts val="400"/>
              </a:spcBef>
            </a:pPr>
            <a:r>
              <a:rPr sz="1300" b="1">
                <a:solidFill>
                  <a:srgbClr val="C9A84C"/>
                </a:solidFill>
                <a:latin typeface="Calibri"/>
              </a:rPr>
              <a:t>• </a:t>
            </a:r>
            <a:r>
              <a:rPr sz="1100">
                <a:solidFill>
                  <a:srgbClr val="1E1508"/>
                </a:solidFill>
                <a:latin typeface="Calibri"/>
              </a:rPr>
              <a:t>Add Day → returns visitor to browse mode for the new day</a:t>
            </a:r>
          </a:p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00" i="1">
                <a:solidFill>
                  <a:srgbClr val="5C3A1F"/>
                </a:solidFill>
                <a:latin typeface="Calibri"/>
              </a:rPr>
              <a:t>       ↳  Tap "Add Day," land on cards to pick Day 3 activities — flow continues.</a:t>
            </a:r>
          </a:p>
          <a:p>
            <a:pPr algn="l">
              <a:lnSpc>
                <a:spcPct val="120000"/>
              </a:lnSpc>
              <a:spcBef>
                <a:spcPts val="400"/>
              </a:spcBef>
            </a:pPr>
            <a:r>
              <a:rPr sz="1300" b="1">
                <a:solidFill>
                  <a:srgbClr val="C9A84C"/>
                </a:solidFill>
                <a:latin typeface="Calibri"/>
              </a:rPr>
              <a:t>• </a:t>
            </a:r>
            <a:r>
              <a:rPr sz="1100">
                <a:solidFill>
                  <a:srgbClr val="1E1508"/>
                </a:solidFill>
                <a:latin typeface="Calibri"/>
              </a:rPr>
              <a:t>Find Lodging button at top of itinerary jumps directly to lodging filter</a:t>
            </a:r>
          </a:p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00" i="1">
                <a:solidFill>
                  <a:srgbClr val="5C3A1F"/>
                </a:solidFill>
                <a:latin typeface="Calibri"/>
              </a:rPr>
              <a:t>       ↳  Six stops in but no hotel — one tap surfaces every nearby B&amp;B.</a:t>
            </a:r>
          </a:p>
          <a:p>
            <a:pPr algn="l">
              <a:lnSpc>
                <a:spcPct val="120000"/>
              </a:lnSpc>
              <a:spcBef>
                <a:spcPts val="400"/>
              </a:spcBef>
            </a:pPr>
            <a:r>
              <a:rPr sz="1300" b="1">
                <a:solidFill>
                  <a:srgbClr val="C9A84C"/>
                </a:solidFill>
                <a:latin typeface="Calibri"/>
              </a:rPr>
              <a:t>• </a:t>
            </a:r>
            <a:r>
              <a:rPr sz="1100">
                <a:solidFill>
                  <a:srgbClr val="1E1508"/>
                </a:solidFill>
                <a:latin typeface="Calibri"/>
              </a:rPr>
              <a:t>Events go INTO the itinerary first; the visitor decides what to commit to</a:t>
            </a:r>
          </a:p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00" i="1">
                <a:solidFill>
                  <a:srgbClr val="5C3A1F"/>
                </a:solidFill>
                <a:latin typeface="Calibri"/>
              </a:rPr>
              <a:t>       ↳  Bluegrass concert tile lands in My Itinerary, not on KVMR's site.</a:t>
            </a:r>
          </a:p>
          <a:p>
            <a:pPr algn="l">
              <a:lnSpc>
                <a:spcPct val="120000"/>
              </a:lnSpc>
              <a:spcBef>
                <a:spcPts val="400"/>
              </a:spcBef>
            </a:pPr>
            <a:r>
              <a:rPr sz="1300" b="1">
                <a:solidFill>
                  <a:srgbClr val="C9A84C"/>
                </a:solidFill>
                <a:latin typeface="Calibri"/>
              </a:rPr>
              <a:t>• </a:t>
            </a:r>
            <a:r>
              <a:rPr sz="1100">
                <a:solidFill>
                  <a:srgbClr val="1E1508"/>
                </a:solidFill>
                <a:latin typeface="Calibri"/>
              </a:rPr>
              <a:t>15-min add → opt-in save → survives tab close + browser restart</a:t>
            </a:r>
          </a:p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00" i="1">
                <a:solidFill>
                  <a:srgbClr val="5C3A1F"/>
                </a:solidFill>
                <a:latin typeface="Calibri"/>
              </a:rPr>
              <a:t>       ↳  Browser closes, phone reboots — itinerary still there next morning.</a:t>
            </a:r>
          </a:p>
          <a:p>
            <a:pPr algn="l">
              <a:lnSpc>
                <a:spcPct val="120000"/>
              </a:lnSpc>
              <a:spcBef>
                <a:spcPts val="400"/>
              </a:spcBef>
            </a:pPr>
            <a:r>
              <a:rPr sz="1300" b="1">
                <a:solidFill>
                  <a:srgbClr val="C9A84C"/>
                </a:solidFill>
                <a:latin typeface="Calibri"/>
              </a:rPr>
              <a:t>• </a:t>
            </a:r>
            <a:r>
              <a:rPr sz="1100">
                <a:solidFill>
                  <a:srgbClr val="1E1508"/>
                </a:solidFill>
                <a:latin typeface="Calibri"/>
              </a:rPr>
              <a:t>Share link via native phone share sheet, email, text, or copy URL</a:t>
            </a:r>
          </a:p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00" i="1">
                <a:solidFill>
                  <a:srgbClr val="5C3A1F"/>
                </a:solidFill>
                <a:latin typeface="Calibri"/>
              </a:rPr>
              <a:t>       ↳  Visitor texts the URL to spouse: "this is what I'm thinking."</a:t>
            </a:r>
          </a:p>
        </p:txBody>
      </p:sp>
      <p:sp>
        <p:nvSpPr>
          <p:cNvPr id="6" name="Rectangle 5"/>
          <p:cNvSpPr/>
          <p:nvPr/>
        </p:nvSpPr>
        <p:spPr>
          <a:xfrm>
            <a:off x="7223760" y="1691640"/>
            <a:ext cx="4389120" cy="4572000"/>
          </a:xfrm>
          <a:prstGeom prst="rect">
            <a:avLst/>
          </a:prstGeom>
          <a:solidFill>
            <a:srgbClr val="FBF7EE"/>
          </a:solidFill>
          <a:ln w="6350">
            <a:solidFill>
              <a:srgbClr val="D4C9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06640" y="1828800"/>
            <a:ext cx="40233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 i="1">
                <a:solidFill>
                  <a:srgbClr val="4A5568"/>
                </a:solidFill>
                <a:latin typeface="Calibri"/>
              </a:rPr>
              <a:t>2 stops · 2 days / 1 night</a:t>
            </a:r>
          </a:p>
        </p:txBody>
      </p:sp>
      <p:sp>
        <p:nvSpPr>
          <p:cNvPr id="8" name="Rectangle 7"/>
          <p:cNvSpPr/>
          <p:nvPr/>
        </p:nvSpPr>
        <p:spPr>
          <a:xfrm>
            <a:off x="7452360" y="2240280"/>
            <a:ext cx="393192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2331720"/>
            <a:ext cx="384048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1" i="0">
                <a:solidFill>
                  <a:srgbClr val="5C3A1F"/>
                </a:solidFill>
                <a:latin typeface="Calibri"/>
              </a:rPr>
              <a:t>DAY 1 of 2   Sat, Jun 14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0" y="2697480"/>
            <a:ext cx="384048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1E1508"/>
                </a:solidFill>
                <a:latin typeface="Calibri"/>
              </a:rPr>
              <a:t>💤 TONIGHT'S STAY
Holbrooke Hotel · Grass Valley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0" y="3383280"/>
            <a:ext cx="384048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1E1508"/>
                </a:solidFill>
                <a:latin typeface="Calibri"/>
              </a:rPr>
              <a:t>1.  Empire Mine State Historic Park
2.  Lola Restaurant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52360" y="4206240"/>
            <a:ext cx="393192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0" y="4297680"/>
            <a:ext cx="384048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1" i="0">
                <a:solidFill>
                  <a:srgbClr val="5C3A1F"/>
                </a:solidFill>
                <a:latin typeface="Calibri"/>
              </a:rPr>
              <a:t>DAY 2 of 2   Sun, Jun 15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0" y="4617720"/>
            <a:ext cx="384048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 i="1">
                <a:solidFill>
                  <a:srgbClr val="4A5568"/>
                </a:solidFill>
                <a:latin typeface="Calibri"/>
              </a:rPr>
              <a:t>💤  No lodging picked for tonight  →  [Find Lodging]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20" y="5074920"/>
            <a:ext cx="384048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C9A84C"/>
                </a:solidFill>
                <a:latin typeface="Calibri"/>
              </a:rPr>
              <a:t>📅  Father's Day Bluegrass — Sat 7:00 PM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 i="0">
                <a:solidFill>
                  <a:srgbClr val="4A5568"/>
                </a:solidFill>
                <a:latin typeface="Calibri"/>
              </a:rPr>
              <a:t>Western Nevada County Experience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0" y="6492240"/>
            <a:ext cx="109728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4A5568"/>
                </a:solidFill>
                <a:latin typeface="Calibri"/>
              </a:rPr>
              <a:t>5 / 14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6455664"/>
            <a:ext cx="11064240" cy="254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200" b="1" i="0">
                <a:solidFill>
                  <a:srgbClr val="5C3A1F"/>
                </a:solidFill>
                <a:latin typeface="Calibri"/>
              </a:rPr>
              <a:t>Let me show you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78992"/>
            <a:ext cx="11064240" cy="254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07008"/>
            <a:ext cx="110642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 i="1">
                <a:solidFill>
                  <a:srgbClr val="4A5568"/>
                </a:solidFill>
                <a:latin typeface="Calibri"/>
              </a:rPr>
              <a:t>A live demo: visitor planning a romantic November weekend in Western Nevada County.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91640"/>
            <a:ext cx="11064240" cy="384048"/>
          </a:xfrm>
          <a:prstGeom prst="rect">
            <a:avLst/>
          </a:prstGeom>
          <a:solidFill>
            <a:srgbClr val="F5EF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1691640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1" i="0">
                <a:solidFill>
                  <a:srgbClr val="5C3A1F"/>
                </a:solidFill>
                <a:latin typeface="Calibri"/>
              </a:rPr>
              <a:t>Act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68880" y="1737360"/>
            <a:ext cx="9098280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1" i="0">
                <a:solidFill>
                  <a:srgbClr val="5C3A1F"/>
                </a:solidFill>
                <a:latin typeface="Calibri"/>
              </a:rPr>
              <a:t>What happens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075688"/>
            <a:ext cx="11064240" cy="254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112264"/>
            <a:ext cx="11064240" cy="777240"/>
          </a:xfrm>
          <a:prstGeom prst="rect">
            <a:avLst/>
          </a:prstGeom>
          <a:solidFill>
            <a:srgbClr val="FB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157984"/>
            <a:ext cx="1691640" cy="731519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 i="0">
                <a:solidFill>
                  <a:srgbClr val="1E1508"/>
                </a:solidFill>
                <a:latin typeface="Calibri"/>
              </a:rPr>
              <a:t>Act 1 · 2 min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80" y="2157984"/>
            <a:ext cx="9098280" cy="731519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 i="0">
                <a:solidFill>
                  <a:srgbClr val="1E1508"/>
                </a:solidFill>
                <a:latin typeface="Calibri"/>
              </a:rPr>
              <a:t>Set the scene — couple from Sacramento, click "This Weekend" + Festivals vibe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935224"/>
            <a:ext cx="1691640" cy="731519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 i="0">
                <a:solidFill>
                  <a:srgbClr val="1E1508"/>
                </a:solidFill>
                <a:latin typeface="Calibri"/>
              </a:rPr>
              <a:t>Act 2 · 90 sec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2935224"/>
            <a:ext cx="9098280" cy="731519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 i="0">
                <a:solidFill>
                  <a:srgbClr val="1E1508"/>
                </a:solidFill>
                <a:latin typeface="Calibri"/>
              </a:rPr>
              <a:t>Layer in Relaxed vibe + Lodging category + B&amp;B sub-pill — real Victorian B&amp;Bs surface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666744"/>
            <a:ext cx="11064240" cy="777240"/>
          </a:xfrm>
          <a:prstGeom prst="rect">
            <a:avLst/>
          </a:prstGeom>
          <a:solidFill>
            <a:srgbClr val="FB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712464"/>
            <a:ext cx="1691640" cy="731519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 i="0">
                <a:solidFill>
                  <a:srgbClr val="1E1508"/>
                </a:solidFill>
                <a:latin typeface="Calibri"/>
              </a:rPr>
              <a:t>Act 3 · 2 min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68880" y="3712464"/>
            <a:ext cx="9098280" cy="731519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 i="0">
                <a:solidFill>
                  <a:srgbClr val="1E1508"/>
                </a:solidFill>
                <a:latin typeface="Calibri"/>
              </a:rPr>
              <a:t>Build the weekend — Cornish Christmas + Holbrooke Hotel + Empire Mine + Lola Restaurant. Open My Itinerary — Smart Suggestions appear with "0.4 mi away" labels. Map view + Print + Share link.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489704"/>
            <a:ext cx="1691640" cy="731519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 i="0">
                <a:solidFill>
                  <a:srgbClr val="1E1508"/>
                </a:solidFill>
                <a:latin typeface="Calibri"/>
              </a:rPr>
              <a:t>Act 4 · 90 sec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68880" y="4489704"/>
            <a:ext cx="9098280" cy="731519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 i="0">
                <a:solidFill>
                  <a:srgbClr val="1E1508"/>
                </a:solidFill>
                <a:latin typeface="Calibri"/>
              </a:rPr>
              <a:t>Behind the scenes — admin Events Queue, Approve All, AI Categorize button, Event Sources tab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5221224"/>
            <a:ext cx="11064240" cy="777240"/>
          </a:xfrm>
          <a:prstGeom prst="rect">
            <a:avLst/>
          </a:prstGeom>
          <a:solidFill>
            <a:srgbClr val="FB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5266944"/>
            <a:ext cx="1691640" cy="731519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 i="0">
                <a:solidFill>
                  <a:srgbClr val="1E1508"/>
                </a:solidFill>
                <a:latin typeface="Calibri"/>
              </a:rPr>
              <a:t>Act 5 · 60 sec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68880" y="5266944"/>
            <a:ext cx="9098280" cy="731519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 i="0">
                <a:solidFill>
                  <a:srgbClr val="1E1508"/>
                </a:solidFill>
                <a:latin typeface="Calibri"/>
              </a:rPr>
              <a:t>Close the value props — time saved, local visibility, privacy, no vendor lock-in, AI integration, low maintenance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 i="0">
                <a:solidFill>
                  <a:srgbClr val="4A5568"/>
                </a:solidFill>
                <a:latin typeface="Calibri"/>
              </a:rPr>
              <a:t>Western Nevada County Experience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0" y="6492240"/>
            <a:ext cx="109728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4A5568"/>
                </a:solidFill>
                <a:latin typeface="Calibri"/>
              </a:rPr>
              <a:t>6 / 14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6455664"/>
            <a:ext cx="11064240" cy="254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200" b="1" i="0">
                <a:solidFill>
                  <a:srgbClr val="5C3A1F"/>
                </a:solidFill>
                <a:latin typeface="Calibri"/>
              </a:rPr>
              <a:t>Who this serves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78992"/>
            <a:ext cx="11064240" cy="254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07008"/>
            <a:ext cx="110642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 i="1">
                <a:solidFill>
                  <a:srgbClr val="4A5568"/>
                </a:solidFill>
                <a:latin typeface="Calibri"/>
              </a:rPr>
              <a:t>Nine visitor personas — each searches differently and converts on different content.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11064240" cy="4297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1">
                <a:solidFill>
                  <a:srgbClr val="C9A84C"/>
                </a:solidFill>
                <a:latin typeface="Calibri"/>
              </a:rPr>
              <a:t>• </a:t>
            </a:r>
            <a:r>
              <a:rPr sz="1200">
                <a:solidFill>
                  <a:srgbClr val="1E1508"/>
                </a:solidFill>
                <a:latin typeface="Calibri"/>
              </a:rPr>
              <a:t>1. Romantic Weekender    —    Couples 35-65, Bay Area / Sac, B&amp;Bs + dining + wineries</a:t>
            </a:r>
          </a:p>
          <a:p>
            <a:pPr algn="l">
              <a:lnSpc>
                <a:spcPct val="140000"/>
              </a:lnSpc>
              <a:spcBef>
                <a:spcPts val="600"/>
              </a:spcBef>
            </a:pPr>
            <a:r>
              <a:rPr sz="1400" b="1">
                <a:solidFill>
                  <a:srgbClr val="C9A84C"/>
                </a:solidFill>
                <a:latin typeface="Calibri"/>
              </a:rPr>
              <a:t>• </a:t>
            </a:r>
            <a:r>
              <a:rPr sz="1200">
                <a:solidFill>
                  <a:srgbClr val="1E1508"/>
                </a:solidFill>
                <a:latin typeface="Calibri"/>
              </a:rPr>
              <a:t>2. Festival Pilgrim    —    Anchored to a specific event — Cornish Christmas, Wild &amp; Scenic, Bluegrass</a:t>
            </a:r>
          </a:p>
          <a:p>
            <a:pPr algn="l">
              <a:lnSpc>
                <a:spcPct val="140000"/>
              </a:lnSpc>
              <a:spcBef>
                <a:spcPts val="600"/>
              </a:spcBef>
            </a:pPr>
            <a:r>
              <a:rPr sz="1400" b="1">
                <a:solidFill>
                  <a:srgbClr val="C9A84C"/>
                </a:solidFill>
                <a:latin typeface="Calibri"/>
              </a:rPr>
              <a:t>• </a:t>
            </a:r>
            <a:r>
              <a:rPr sz="1200">
                <a:solidFill>
                  <a:srgbClr val="1E1508"/>
                </a:solidFill>
                <a:latin typeface="Calibri"/>
              </a:rPr>
              <a:t>3. Trail &amp; Lake Seeker    —    Hiking / biking / swimming / paddling — needs distance &amp; difficulty</a:t>
            </a:r>
          </a:p>
          <a:p>
            <a:pPr algn="l">
              <a:lnSpc>
                <a:spcPct val="140000"/>
              </a:lnSpc>
              <a:spcBef>
                <a:spcPts val="600"/>
              </a:spcBef>
            </a:pPr>
            <a:r>
              <a:rPr sz="1400" b="1">
                <a:solidFill>
                  <a:srgbClr val="C9A84C"/>
                </a:solidFill>
                <a:latin typeface="Calibri"/>
              </a:rPr>
              <a:t>• </a:t>
            </a:r>
            <a:r>
              <a:rPr sz="1200">
                <a:solidFill>
                  <a:srgbClr val="1E1508"/>
                </a:solidFill>
                <a:latin typeface="Calibri"/>
              </a:rPr>
              <a:t>4. Multi-Gen Family    —    Parents with kids 5-15 — "will my 8-year-old be bored?"</a:t>
            </a:r>
          </a:p>
          <a:p>
            <a:pPr algn="l">
              <a:lnSpc>
                <a:spcPct val="140000"/>
              </a:lnSpc>
              <a:spcBef>
                <a:spcPts val="600"/>
              </a:spcBef>
            </a:pPr>
            <a:r>
              <a:rPr sz="1400" b="1">
                <a:solidFill>
                  <a:srgbClr val="C9A84C"/>
                </a:solidFill>
                <a:latin typeface="Calibri"/>
              </a:rPr>
              <a:t>• </a:t>
            </a:r>
            <a:r>
              <a:rPr sz="1200">
                <a:solidFill>
                  <a:srgbClr val="1E1508"/>
                </a:solidFill>
                <a:latin typeface="Calibri"/>
              </a:rPr>
              <a:t>5. Arts &amp; Heritage Traveler    —    Substance over photos; reads notes; values authenticity</a:t>
            </a:r>
          </a:p>
          <a:p>
            <a:pPr algn="l">
              <a:lnSpc>
                <a:spcPct val="140000"/>
              </a:lnSpc>
              <a:spcBef>
                <a:spcPts val="600"/>
              </a:spcBef>
            </a:pPr>
            <a:r>
              <a:rPr sz="1400" b="1">
                <a:solidFill>
                  <a:srgbClr val="C9A84C"/>
                </a:solidFill>
                <a:latin typeface="Calibri"/>
              </a:rPr>
              <a:t>• </a:t>
            </a:r>
            <a:r>
              <a:rPr sz="1200">
                <a:solidFill>
                  <a:srgbClr val="1E1508"/>
                </a:solidFill>
                <a:latin typeface="Calibri"/>
              </a:rPr>
              <a:t>6. Wine Country Foodie    —    Napa-alternative — provenance, chef bios, tasting flights</a:t>
            </a:r>
          </a:p>
          <a:p>
            <a:pPr algn="l">
              <a:lnSpc>
                <a:spcPct val="140000"/>
              </a:lnSpc>
              <a:spcBef>
                <a:spcPts val="600"/>
              </a:spcBef>
            </a:pPr>
            <a:r>
              <a:rPr sz="1400" b="1">
                <a:solidFill>
                  <a:srgbClr val="C9A84C"/>
                </a:solidFill>
                <a:latin typeface="Calibri"/>
              </a:rPr>
              <a:t>• </a:t>
            </a:r>
            <a:r>
              <a:rPr sz="1200">
                <a:solidFill>
                  <a:srgbClr val="1E1508"/>
                </a:solidFill>
                <a:latin typeface="Calibri"/>
              </a:rPr>
              <a:t>7. Wellness Refugee    —    Float, massage, yoga, gardens — filtering for what's NOT there</a:t>
            </a:r>
          </a:p>
          <a:p>
            <a:pPr algn="l">
              <a:lnSpc>
                <a:spcPct val="140000"/>
              </a:lnSpc>
              <a:spcBef>
                <a:spcPts val="600"/>
              </a:spcBef>
            </a:pPr>
            <a:r>
              <a:rPr sz="1400" b="1">
                <a:solidFill>
                  <a:srgbClr val="C9A84C"/>
                </a:solidFill>
                <a:latin typeface="Calibri"/>
              </a:rPr>
              <a:t>• </a:t>
            </a:r>
            <a:r>
              <a:rPr sz="1200">
                <a:solidFill>
                  <a:srgbClr val="1E1508"/>
                </a:solidFill>
                <a:latin typeface="Calibri"/>
              </a:rPr>
              <a:t>8. Local "What's Up"    —    Residents — pure events feed, "what's on this weekend"</a:t>
            </a:r>
          </a:p>
          <a:p>
            <a:pPr algn="l">
              <a:lnSpc>
                <a:spcPct val="140000"/>
              </a:lnSpc>
              <a:spcBef>
                <a:spcPts val="600"/>
              </a:spcBef>
            </a:pPr>
            <a:r>
              <a:rPr sz="1400" b="1">
                <a:solidFill>
                  <a:srgbClr val="C9A84C"/>
                </a:solidFill>
                <a:latin typeface="Calibri"/>
              </a:rPr>
              <a:t>• </a:t>
            </a:r>
            <a:r>
              <a:rPr sz="1200">
                <a:solidFill>
                  <a:srgbClr val="1E1508"/>
                </a:solidFill>
                <a:latin typeface="Calibri"/>
              </a:rPr>
              <a:t>9. Maker Traveler  🎯    —    Travels for the workshop — Curious Forge anchors a destination identity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5486400"/>
            <a:ext cx="11064240" cy="777240"/>
          </a:xfrm>
          <a:prstGeom prst="rect">
            <a:avLst/>
          </a:prstGeom>
          <a:solidFill>
            <a:srgbClr val="FBF7EE"/>
          </a:solidFill>
          <a:ln w="63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5532120"/>
            <a:ext cx="10881360" cy="6858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200" b="1" i="0">
                <a:solidFill>
                  <a:srgbClr val="5C3A1F"/>
                </a:solidFill>
                <a:latin typeface="Calibri"/>
              </a:rPr>
              <a:t>Recommended marketing focus (over-serve four):  Maker Traveler  ·  Festival Pilgrim  ·  Romantic Weekender  ·  Foodie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 i="0">
                <a:solidFill>
                  <a:srgbClr val="4A5568"/>
                </a:solidFill>
                <a:latin typeface="Calibri"/>
              </a:rPr>
              <a:t>Western Nevada County Experience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92240"/>
            <a:ext cx="109728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4A5568"/>
                </a:solidFill>
                <a:latin typeface="Calibri"/>
              </a:rPr>
              <a:t>7 / 14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6455664"/>
            <a:ext cx="11064240" cy="254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200" b="1" i="0">
                <a:solidFill>
                  <a:srgbClr val="5C3A1F"/>
                </a:solidFill>
                <a:latin typeface="Calibri"/>
              </a:rPr>
              <a:t>Why it's easy to use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78992"/>
            <a:ext cx="11064240" cy="254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07008"/>
            <a:ext cx="110642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 i="1">
                <a:solidFill>
                  <a:srgbClr val="4A5568"/>
                </a:solidFill>
                <a:latin typeface="Calibri"/>
              </a:rPr>
              <a:t>Friction points where most tourism sites lose visitors — and what we did instead.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08760"/>
            <a:ext cx="11064240" cy="384048"/>
          </a:xfrm>
          <a:prstGeom prst="rect">
            <a:avLst/>
          </a:prstGeom>
          <a:solidFill>
            <a:srgbClr val="F5EF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3520440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1" i="0">
                <a:solidFill>
                  <a:srgbClr val="5C3A1F"/>
                </a:solidFill>
                <a:latin typeface="Calibri"/>
              </a:rPr>
              <a:t>Decision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1554480"/>
            <a:ext cx="7269479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1" i="0">
                <a:solidFill>
                  <a:srgbClr val="5C3A1F"/>
                </a:solidFill>
                <a:latin typeface="Calibri"/>
              </a:rPr>
              <a:t>Why it matters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892808"/>
            <a:ext cx="11064240" cy="254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929384"/>
            <a:ext cx="11064240" cy="548640"/>
          </a:xfrm>
          <a:prstGeom prst="rect">
            <a:avLst/>
          </a:prstGeom>
          <a:solidFill>
            <a:srgbClr val="FB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975104"/>
            <a:ext cx="3520440" cy="502919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900" b="0" i="0">
                <a:solidFill>
                  <a:srgbClr val="1E1508"/>
                </a:solidFill>
                <a:latin typeface="Calibri"/>
              </a:rPr>
              <a:t>Day-by-day with lodging anchor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1965960"/>
            <a:ext cx="7269479" cy="251459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 i="0">
                <a:solidFill>
                  <a:srgbClr val="1E1508"/>
                </a:solidFill>
                <a:latin typeface="Calibri"/>
              </a:rPr>
              <a:t>A flat list of stops hides the night question; structured days surface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2217419"/>
            <a:ext cx="7269479" cy="251459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800" b="0" i="1">
                <a:solidFill>
                  <a:srgbClr val="5C3A1F"/>
                </a:solidFill>
                <a:latin typeface="Calibri"/>
              </a:rPr>
              <a:t>↳  Visitor sees Day 2 has no stay tile, books before leaving the page.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523744"/>
            <a:ext cx="3520440" cy="502919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900" b="0" i="0">
                <a:solidFill>
                  <a:srgbClr val="1E1508"/>
                </a:solidFill>
                <a:latin typeface="Calibri"/>
              </a:rPr>
              <a:t>"Find Lodging" CTA + auto-clear vibes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2514600"/>
            <a:ext cx="7269479" cy="251459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 i="0">
                <a:solidFill>
                  <a:srgbClr val="1E1508"/>
                </a:solidFill>
                <a:latin typeface="Calibri"/>
              </a:rPr>
              <a:t>One-click jump to lodging that doesn't fight against active vibes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2766059"/>
            <a:ext cx="7269479" cy="251459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800" b="0" i="1">
                <a:solidFill>
                  <a:srgbClr val="5C3A1F"/>
                </a:solidFill>
                <a:latin typeface="Calibri"/>
              </a:rPr>
              <a:t>↳  Foodie-vibe visitor taps Find Lodging; vibes clear so all stays show.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026664"/>
            <a:ext cx="11064240" cy="548640"/>
          </a:xfrm>
          <a:prstGeom prst="rect">
            <a:avLst/>
          </a:prstGeom>
          <a:solidFill>
            <a:srgbClr val="FB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072384"/>
            <a:ext cx="3520440" cy="502919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900" b="0" i="0">
                <a:solidFill>
                  <a:srgbClr val="1E1508"/>
                </a:solidFill>
                <a:latin typeface="Calibri"/>
              </a:rPr>
              <a:t>Add Day returns to browse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0" y="3063240"/>
            <a:ext cx="7269479" cy="251459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 i="0">
                <a:solidFill>
                  <a:srgbClr val="1E1508"/>
                </a:solidFill>
                <a:latin typeface="Calibri"/>
              </a:rPr>
              <a:t>No leaving visitor staring at empty days; flow continues naturally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0" y="3314699"/>
            <a:ext cx="7269479" cy="251459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800" b="0" i="1">
                <a:solidFill>
                  <a:srgbClr val="5C3A1F"/>
                </a:solidFill>
                <a:latin typeface="Calibri"/>
              </a:rPr>
              <a:t>↳  Day 2 isn't an empty container — visitor lands somewhere productive.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3621024"/>
            <a:ext cx="3520440" cy="502919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900" b="0" i="0">
                <a:solidFill>
                  <a:srgbClr val="1E1508"/>
                </a:solidFill>
                <a:latin typeface="Calibri"/>
              </a:rPr>
              <a:t>Events → itinerary first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7680" y="3611880"/>
            <a:ext cx="7269479" cy="251459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 i="0">
                <a:solidFill>
                  <a:srgbClr val="1E1508"/>
                </a:solidFill>
                <a:latin typeface="Calibri"/>
              </a:rPr>
              <a:t>No hijack to KVMR — visitor compares before clicking through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7680" y="3863339"/>
            <a:ext cx="7269479" cy="251459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800" b="0" i="1">
                <a:solidFill>
                  <a:srgbClr val="5C3A1F"/>
                </a:solidFill>
                <a:latin typeface="Calibri"/>
              </a:rPr>
              <a:t>↳  Three concerts compared side-by-side before committing to one.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4123944"/>
            <a:ext cx="11064240" cy="548640"/>
          </a:xfrm>
          <a:prstGeom prst="rect">
            <a:avLst/>
          </a:prstGeom>
          <a:solidFill>
            <a:srgbClr val="FB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4169664"/>
            <a:ext cx="3520440" cy="502919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900" b="0" i="0">
                <a:solidFill>
                  <a:srgbClr val="1E1508"/>
                </a:solidFill>
                <a:latin typeface="Calibri"/>
              </a:rPr>
              <a:t>Vibe sub-pills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97680" y="4160520"/>
            <a:ext cx="7269479" cy="251459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 i="0">
                <a:solidFill>
                  <a:srgbClr val="1E1508"/>
                </a:solidFill>
                <a:latin typeface="Calibri"/>
              </a:rPr>
              <a:t>Foodie → Restaurants/Markets/Wineries — granular without leaving the vibe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97680" y="4411979"/>
            <a:ext cx="7269479" cy="251459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800" b="0" i="1">
                <a:solidFill>
                  <a:srgbClr val="5C3A1F"/>
                </a:solidFill>
                <a:latin typeface="Calibri"/>
              </a:rPr>
              <a:t>↳  Foodie → Wineries narrows without switching mental contexts.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4718304"/>
            <a:ext cx="3520440" cy="502919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900" b="0" i="0">
                <a:solidFill>
                  <a:srgbClr val="1E1508"/>
                </a:solidFill>
                <a:latin typeface="Calibri"/>
              </a:rPr>
              <a:t>Calendar dates on day headers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97680" y="4709160"/>
            <a:ext cx="7269479" cy="251459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 i="0">
                <a:solidFill>
                  <a:srgbClr val="1E1508"/>
                </a:solidFill>
                <a:latin typeface="Calibri"/>
              </a:rPr>
              <a:t>"DAY 1 · Sat, May 17" instead of abstract numbers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7680" y="4960619"/>
            <a:ext cx="7269479" cy="251459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800" b="0" i="1">
                <a:solidFill>
                  <a:srgbClr val="5C3A1F"/>
                </a:solidFill>
                <a:latin typeface="Calibri"/>
              </a:rPr>
              <a:t>↳  "Sat, May 17" grounds the trip in real-world weekend planning.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5221224"/>
            <a:ext cx="11064240" cy="548640"/>
          </a:xfrm>
          <a:prstGeom prst="rect">
            <a:avLst/>
          </a:prstGeom>
          <a:solidFill>
            <a:srgbClr val="FB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5266944"/>
            <a:ext cx="3520440" cy="502919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900" b="0" i="0">
                <a:solidFill>
                  <a:srgbClr val="1E1508"/>
                </a:solidFill>
                <a:latin typeface="Calibri"/>
              </a:rPr>
              <a:t>Opt-in itinerary save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97680" y="5257800"/>
            <a:ext cx="7269479" cy="251459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 i="0">
                <a:solidFill>
                  <a:srgbClr val="1E1508"/>
                </a:solidFill>
                <a:latin typeface="Calibri"/>
              </a:rPr>
              <a:t>Survives tab close + restart — no account, no email, explicit consent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97680" y="5509259"/>
            <a:ext cx="7269479" cy="251459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800" b="0" i="1">
                <a:solidFill>
                  <a:srgbClr val="5C3A1F"/>
                </a:solidFill>
                <a:latin typeface="Calibri"/>
              </a:rPr>
              <a:t>↳  Banner appears only after first add — visitor consents knowingly.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5815584"/>
            <a:ext cx="3520440" cy="502919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900" b="0" i="0">
                <a:solidFill>
                  <a:srgbClr val="1E1508"/>
                </a:solidFill>
                <a:latin typeface="Calibri"/>
              </a:rPr>
              <a:t>Auto-season filtering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97680" y="5806440"/>
            <a:ext cx="7269479" cy="251459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 i="0">
                <a:solidFill>
                  <a:srgbClr val="1E1508"/>
                </a:solidFill>
                <a:latin typeface="Calibri"/>
              </a:rPr>
              <a:t>November visit hides summer-only experiences automatically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97680" y="6057899"/>
            <a:ext cx="7269479" cy="251459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800" b="0" i="1">
                <a:solidFill>
                  <a:srgbClr val="5C3A1F"/>
                </a:solidFill>
                <a:latin typeface="Calibri"/>
              </a:rPr>
              <a:t>↳  December visitor never sees "summer concert series" as a dead lead.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 i="0">
                <a:solidFill>
                  <a:srgbClr val="4A5568"/>
                </a:solidFill>
                <a:latin typeface="Calibri"/>
              </a:rPr>
              <a:t>Western Nevada County Experience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15600" y="6492240"/>
            <a:ext cx="109728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4A5568"/>
                </a:solidFill>
                <a:latin typeface="Calibri"/>
              </a:rPr>
              <a:t>8 / 14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48640" y="6455664"/>
            <a:ext cx="11064240" cy="254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200" b="1" i="0">
                <a:solidFill>
                  <a:srgbClr val="5C3A1F"/>
                </a:solidFill>
                <a:latin typeface="Calibri"/>
              </a:rPr>
              <a:t>Privacy posture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78992"/>
            <a:ext cx="11064240" cy="254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07008"/>
            <a:ext cx="110642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 i="1">
                <a:solidFill>
                  <a:srgbClr val="4A5568"/>
                </a:solidFill>
                <a:latin typeface="Calibri"/>
              </a:rPr>
              <a:t>No tracking. No cookies. Visitors stay anonymous; the chamber gets credit for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11064240" cy="4297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1">
                <a:solidFill>
                  <a:srgbClr val="C9A84C"/>
                </a:solidFill>
                <a:latin typeface="Calibri"/>
              </a:rPr>
              <a:t>• </a:t>
            </a:r>
            <a:r>
              <a:rPr sz="1100">
                <a:solidFill>
                  <a:srgbClr val="1E1508"/>
                </a:solidFill>
                <a:latin typeface="Calibri"/>
              </a:rPr>
              <a:t>No analytics, no cookies, no third-party trackers by default</a:t>
            </a:r>
          </a:p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00" i="1">
                <a:solidFill>
                  <a:srgbClr val="5C3A1F"/>
                </a:solidFill>
                <a:latin typeface="Calibri"/>
              </a:rPr>
              <a:t>       ↳  Site loads instantly — no cookie modal between visitor and content.</a:t>
            </a:r>
          </a:p>
          <a:p>
            <a:pPr algn="l">
              <a:lnSpc>
                <a:spcPct val="118000"/>
              </a:lnSpc>
              <a:spcBef>
                <a:spcPts val="400"/>
              </a:spcBef>
            </a:pPr>
            <a:r>
              <a:rPr sz="1300" b="1">
                <a:solidFill>
                  <a:srgbClr val="C9A84C"/>
                </a:solidFill>
                <a:latin typeface="Calibri"/>
              </a:rPr>
              <a:t>• </a:t>
            </a:r>
            <a:r>
              <a:rPr sz="1100">
                <a:solidFill>
                  <a:srgbClr val="1E1508"/>
                </a:solidFill>
                <a:latin typeface="Calibri"/>
              </a:rPr>
              <a:t>Itinerary save is opt-in only — explicit consent banner on first add</a:t>
            </a:r>
          </a:p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00" i="1">
                <a:solidFill>
                  <a:srgbClr val="5C3A1F"/>
                </a:solidFill>
                <a:latin typeface="Calibri"/>
              </a:rPr>
              <a:t>       ↳  Banner appears only after first card added; visitor knows what they're consenting to.</a:t>
            </a:r>
          </a:p>
          <a:p>
            <a:pPr algn="l">
              <a:lnSpc>
                <a:spcPct val="118000"/>
              </a:lnSpc>
              <a:spcBef>
                <a:spcPts val="400"/>
              </a:spcBef>
            </a:pPr>
            <a:r>
              <a:rPr sz="1300" b="1">
                <a:solidFill>
                  <a:srgbClr val="C9A84C"/>
                </a:solidFill>
                <a:latin typeface="Calibri"/>
              </a:rPr>
              <a:t>• </a:t>
            </a:r>
            <a:r>
              <a:rPr sz="1100">
                <a:solidFill>
                  <a:srgbClr val="1E1508"/>
                </a:solidFill>
                <a:latin typeface="Calibri"/>
              </a:rPr>
              <a:t>"Forget on this device" link revokes consent and wipes saved data anytime</a:t>
            </a:r>
          </a:p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00" i="1">
                <a:solidFill>
                  <a:srgbClr val="5C3A1F"/>
                </a:solidFill>
                <a:latin typeface="Calibri"/>
              </a:rPr>
              <a:t>       ↳  Trip ends — visitor wipes the itinerary in two taps, takes nothing back home.</a:t>
            </a:r>
          </a:p>
          <a:p>
            <a:pPr algn="l">
              <a:lnSpc>
                <a:spcPct val="118000"/>
              </a:lnSpc>
              <a:spcBef>
                <a:spcPts val="400"/>
              </a:spcBef>
            </a:pPr>
            <a:r>
              <a:rPr sz="1300" b="1">
                <a:solidFill>
                  <a:srgbClr val="C9A84C"/>
                </a:solidFill>
                <a:latin typeface="Calibri"/>
              </a:rPr>
              <a:t>• </a:t>
            </a:r>
            <a:r>
              <a:rPr sz="1100">
                <a:solidFill>
                  <a:srgbClr val="1E1508"/>
                </a:solidFill>
                <a:latin typeface="Calibri"/>
              </a:rPr>
              <a:t>Share-link URL works without any consent — purely a URL fragment</a:t>
            </a:r>
          </a:p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00" i="1">
                <a:solidFill>
                  <a:srgbClr val="5C3A1F"/>
                </a:solidFill>
                <a:latin typeface="Calibri"/>
              </a:rPr>
              <a:t>       ↳  Two friends compare itineraries via shared URLs, neither registered for anything.</a:t>
            </a:r>
          </a:p>
          <a:p>
            <a:pPr algn="l">
              <a:lnSpc>
                <a:spcPct val="118000"/>
              </a:lnSpc>
              <a:spcBef>
                <a:spcPts val="400"/>
              </a:spcBef>
            </a:pPr>
            <a:r>
              <a:rPr sz="1300" b="1">
                <a:solidFill>
                  <a:srgbClr val="C9A84C"/>
                </a:solidFill>
                <a:latin typeface="Calibri"/>
              </a:rPr>
              <a:t>• </a:t>
            </a:r>
            <a:r>
              <a:rPr sz="1100">
                <a:solidFill>
                  <a:srgbClr val="1E1508"/>
                </a:solidFill>
                <a:latin typeface="Calibri"/>
              </a:rPr>
              <a:t>No account / sign-up / email required to plan a full trip</a:t>
            </a:r>
          </a:p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00" i="1">
                <a:solidFill>
                  <a:srgbClr val="5C3A1F"/>
                </a:solidFill>
                <a:latin typeface="Calibri"/>
              </a:rPr>
              <a:t>       ↳  30 seconds from landing → planning, no email-collection wall.</a:t>
            </a:r>
          </a:p>
          <a:p>
            <a:pPr algn="l">
              <a:lnSpc>
                <a:spcPct val="118000"/>
              </a:lnSpc>
              <a:spcBef>
                <a:spcPts val="400"/>
              </a:spcBef>
            </a:pPr>
            <a:r>
              <a:rPr sz="1300" b="1">
                <a:solidFill>
                  <a:srgbClr val="C9A84C"/>
                </a:solidFill>
                <a:latin typeface="Calibri"/>
              </a:rPr>
              <a:t>• </a:t>
            </a:r>
            <a:r>
              <a:rPr sz="1100">
                <a:solidFill>
                  <a:srgbClr val="1E1508"/>
                </a:solidFill>
                <a:latin typeface="Calibri"/>
              </a:rPr>
              <a:t>Chamber sees zero personal information about visitors</a:t>
            </a:r>
          </a:p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00" i="1">
                <a:solidFill>
                  <a:srgbClr val="5C3A1F"/>
                </a:solidFill>
                <a:latin typeface="Calibri"/>
              </a:rPr>
              <a:t>       ↳  Aggregate event queue tells the chamber what's hot; visitor identity stays local.</a:t>
            </a:r>
          </a:p>
          <a:p>
            <a:pPr algn="l">
              <a:lnSpc>
                <a:spcPct val="118000"/>
              </a:lnSpc>
              <a:spcBef>
                <a:spcPts val="400"/>
              </a:spcBef>
            </a:pPr>
            <a:r>
              <a:rPr sz="1300" b="1">
                <a:solidFill>
                  <a:srgbClr val="C9A84C"/>
                </a:solidFill>
                <a:latin typeface="Calibri"/>
              </a:rPr>
              <a:t>• </a:t>
            </a:r>
            <a:r>
              <a:rPr sz="1100">
                <a:solidFill>
                  <a:srgbClr val="1E1508"/>
                </a:solidFill>
                <a:latin typeface="Calibri"/>
              </a:rPr>
              <a:t>No GDPR / CCPA banners required (because nothing is collected)</a:t>
            </a:r>
          </a:p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00" i="1">
                <a:solidFill>
                  <a:srgbClr val="5C3A1F"/>
                </a:solidFill>
                <a:latin typeface="Calibri"/>
              </a:rPr>
              <a:t>       ↳  EU visitor on holiday gets the site without a banner ambush.</a:t>
            </a:r>
          </a:p>
          <a:p>
            <a:pPr algn="l">
              <a:lnSpc>
                <a:spcPct val="118000"/>
              </a:lnSpc>
              <a:spcBef>
                <a:spcPts val="400"/>
              </a:spcBef>
            </a:pPr>
            <a:r>
              <a:rPr sz="1300" b="1">
                <a:solidFill>
                  <a:srgbClr val="C9A84C"/>
                </a:solidFill>
                <a:latin typeface="Calibri"/>
              </a:rPr>
              <a:t>• </a:t>
            </a:r>
            <a:r>
              <a:rPr sz="1100">
                <a:solidFill>
                  <a:srgbClr val="1E1508"/>
                </a:solidFill>
                <a:latin typeface="Calibri"/>
              </a:rPr>
              <a:t>No privacy review, no consent-platform fees, no compliance overhead</a:t>
            </a:r>
          </a:p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00" i="1">
                <a:solidFill>
                  <a:srgbClr val="5C3A1F"/>
                </a:solidFill>
                <a:latin typeface="Calibri"/>
              </a:rPr>
              <a:t>       ↳  Annual compliance budget for the platform: $0 — nothing to review.</a:t>
            </a:r>
          </a:p>
          <a:p>
            <a:pPr algn="l">
              <a:lnSpc>
                <a:spcPct val="118000"/>
              </a:lnSpc>
              <a:spcBef>
                <a:spcPts val="400"/>
              </a:spcBef>
            </a:pPr>
            <a:r>
              <a:rPr sz="1300" b="1">
                <a:solidFill>
                  <a:srgbClr val="C9A84C"/>
                </a:solidFill>
                <a:latin typeface="Calibri"/>
              </a:rPr>
              <a:t>• </a:t>
            </a:r>
            <a:r>
              <a:rPr sz="1100">
                <a:solidFill>
                  <a:srgbClr val="1E1508"/>
                </a:solidFill>
                <a:latin typeface="Calibri"/>
              </a:rPr>
              <a:t>Opt-in measurement available if needed (Plausible — no cookies, no PII)</a:t>
            </a:r>
          </a:p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00" i="1">
                <a:solidFill>
                  <a:srgbClr val="5C3A1F"/>
                </a:solidFill>
                <a:latin typeface="Calibri"/>
              </a:rPr>
              <a:t>       ↳  If the chamber wants aggregate metrics later, flip a config flag — no rebuild.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5486400"/>
            <a:ext cx="11064240" cy="777240"/>
          </a:xfrm>
          <a:prstGeom prst="rect">
            <a:avLst/>
          </a:prstGeom>
          <a:solidFill>
            <a:srgbClr val="FBF7EE"/>
          </a:solidFill>
          <a:ln w="63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5532120"/>
            <a:ext cx="10881360" cy="6858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400" b="0" i="1">
                <a:solidFill>
                  <a:srgbClr val="5C3A1F"/>
                </a:solidFill>
                <a:latin typeface="Calibri"/>
              </a:rPr>
              <a:t>"Visitors stay anonymous; the chamber gets credit for respecting them."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 i="0">
                <a:solidFill>
                  <a:srgbClr val="4A5568"/>
                </a:solidFill>
                <a:latin typeface="Calibri"/>
              </a:rPr>
              <a:t>Western Nevada County Experience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92240"/>
            <a:ext cx="109728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4A5568"/>
                </a:solidFill>
                <a:latin typeface="Calibri"/>
              </a:rPr>
              <a:t>9 / 14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6455664"/>
            <a:ext cx="11064240" cy="254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200" b="1" i="0">
                <a:solidFill>
                  <a:srgbClr val="5C3A1F"/>
                </a:solidFill>
                <a:latin typeface="Calibri"/>
              </a:rPr>
              <a:t>Behind the scenes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78992"/>
            <a:ext cx="11064240" cy="254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07008"/>
            <a:ext cx="110642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 i="1">
                <a:solidFill>
                  <a:srgbClr val="4A5568"/>
                </a:solidFill>
                <a:latin typeface="Calibri"/>
              </a:rPr>
              <a:t>Chamber-staff operations: live data with minimal effort.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08760"/>
            <a:ext cx="11064240" cy="4937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1">
                <a:solidFill>
                  <a:srgbClr val="C9A84C"/>
                </a:solidFill>
                <a:latin typeface="Calibri"/>
              </a:rPr>
              <a:t>• </a:t>
            </a:r>
            <a:r>
              <a:rPr sz="1000">
                <a:solidFill>
                  <a:srgbClr val="1E1508"/>
                </a:solidFill>
                <a:latin typeface="Calibri"/>
              </a:rPr>
              <a:t>🔄 One-click event-source updates from KVMR, Eventbrite, NC Chamber, GV Chamber, Go Nevada, The Union</a:t>
            </a:r>
          </a:p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800" i="1">
                <a:solidFill>
                  <a:srgbClr val="5C3A1F"/>
                </a:solidFill>
                <a:latin typeface="Calibri"/>
              </a:rPr>
              <a:t>       ↳  Chamber staffer clicks "Refresh Sources" Monday morning; ~50 new events appear.</a:t>
            </a:r>
          </a:p>
          <a:p>
            <a:pPr algn="l">
              <a:lnSpc>
                <a:spcPct val="118000"/>
              </a:lnSpc>
              <a:spcBef>
                <a:spcPts val="400"/>
              </a:spcBef>
            </a:pPr>
            <a:r>
              <a:rPr sz="1200" b="1">
                <a:solidFill>
                  <a:srgbClr val="C9A84C"/>
                </a:solidFill>
                <a:latin typeface="Calibri"/>
              </a:rPr>
              <a:t>• </a:t>
            </a:r>
            <a:r>
              <a:rPr sz="1000">
                <a:solidFill>
                  <a:srgbClr val="1E1508"/>
                </a:solidFill>
                <a:latin typeface="Calibri"/>
              </a:rPr>
              <a:t>✅ Approve / dismiss events in a queue; bulk-approve is one click</a:t>
            </a:r>
          </a:p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800" i="1">
                <a:solidFill>
                  <a:srgbClr val="5C3A1F"/>
                </a:solidFill>
                <a:latin typeface="Calibri"/>
              </a:rPr>
              <a:t>       ↳  Bulk-approve all KVMR events; dismiss the suspect ones individually.</a:t>
            </a:r>
          </a:p>
          <a:p>
            <a:pPr algn="l">
              <a:lnSpc>
                <a:spcPct val="118000"/>
              </a:lnSpc>
              <a:spcBef>
                <a:spcPts val="400"/>
              </a:spcBef>
            </a:pPr>
            <a:r>
              <a:rPr sz="1200" b="1">
                <a:solidFill>
                  <a:srgbClr val="C9A84C"/>
                </a:solidFill>
                <a:latin typeface="Calibri"/>
              </a:rPr>
              <a:t>• </a:t>
            </a:r>
            <a:r>
              <a:rPr sz="1000">
                <a:solidFill>
                  <a:srgbClr val="1E1508"/>
                </a:solidFill>
                <a:latin typeface="Calibri"/>
              </a:rPr>
              <a:t>🤖 AI Categorize button (Claude Haiku) — refines area, venue, tags, quality (~$0.20 per full run)</a:t>
            </a:r>
          </a:p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800" i="1">
                <a:solidFill>
                  <a:srgbClr val="5C3A1F"/>
                </a:solidFill>
                <a:latin typeface="Calibri"/>
              </a:rPr>
              <a:t>       ↳  One click after a refresh; 460 events get area + venue + tags fixed for ~20¢.</a:t>
            </a:r>
          </a:p>
          <a:p>
            <a:pPr algn="l">
              <a:lnSpc>
                <a:spcPct val="118000"/>
              </a:lnSpc>
              <a:spcBef>
                <a:spcPts val="400"/>
              </a:spcBef>
            </a:pPr>
            <a:r>
              <a:rPr sz="1200" b="1">
                <a:solidFill>
                  <a:srgbClr val="C9A84C"/>
                </a:solidFill>
                <a:latin typeface="Calibri"/>
              </a:rPr>
              <a:t>• </a:t>
            </a:r>
            <a:r>
              <a:rPr sz="1000">
                <a:solidFill>
                  <a:srgbClr val="1E1508"/>
                </a:solidFill>
                <a:latin typeface="Calibri"/>
              </a:rPr>
              <a:t>✏️ Inline-editable experience table — anyone who can edit a spreadsheet can maintain it</a:t>
            </a:r>
          </a:p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800" i="1">
                <a:solidFill>
                  <a:srgbClr val="5C3A1F"/>
                </a:solidFill>
                <a:latin typeface="Calibri"/>
              </a:rPr>
              <a:t>       ↳  New cidery opens — staff types one row, hits save, it's live on the public site.</a:t>
            </a:r>
          </a:p>
          <a:p>
            <a:pPr algn="l">
              <a:lnSpc>
                <a:spcPct val="118000"/>
              </a:lnSpc>
              <a:spcBef>
                <a:spcPts val="400"/>
              </a:spcBef>
            </a:pPr>
            <a:r>
              <a:rPr sz="1200" b="1">
                <a:solidFill>
                  <a:srgbClr val="C9A84C"/>
                </a:solidFill>
                <a:latin typeface="Calibri"/>
              </a:rPr>
              <a:t>• </a:t>
            </a:r>
            <a:r>
              <a:rPr sz="1000">
                <a:solidFill>
                  <a:srgbClr val="1E1508"/>
                </a:solidFill>
                <a:latin typeface="Calibri"/>
              </a:rPr>
              <a:t>🏷 Tag taxonomy editor — add/rename/delete tags without code</a:t>
            </a:r>
          </a:p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800" i="1">
                <a:solidFill>
                  <a:srgbClr val="5C3A1F"/>
                </a:solidFill>
                <a:latin typeface="Calibri"/>
              </a:rPr>
              <a:t>       ↳  "Music" splits into "Live Music" and "Open Mic" without a developer.</a:t>
            </a:r>
          </a:p>
          <a:p>
            <a:pPr algn="l">
              <a:lnSpc>
                <a:spcPct val="118000"/>
              </a:lnSpc>
              <a:spcBef>
                <a:spcPts val="400"/>
              </a:spcBef>
            </a:pPr>
            <a:r>
              <a:rPr sz="1200" b="1">
                <a:solidFill>
                  <a:srgbClr val="C9A84C"/>
                </a:solidFill>
                <a:latin typeface="Calibri"/>
              </a:rPr>
              <a:t>• </a:t>
            </a:r>
            <a:r>
              <a:rPr sz="1000">
                <a:solidFill>
                  <a:srgbClr val="1E1508"/>
                </a:solidFill>
                <a:latin typeface="Calibri"/>
              </a:rPr>
              <a:t>🔗 Event-source URL management — add a new source by pasting a URL</a:t>
            </a:r>
          </a:p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800" i="1">
                <a:solidFill>
                  <a:srgbClr val="5C3A1F"/>
                </a:solidFill>
                <a:latin typeface="Calibri"/>
              </a:rPr>
              <a:t>       ↳  New venue website? Paste the URL, pick a parser pattern, done.</a:t>
            </a:r>
          </a:p>
          <a:p>
            <a:pPr algn="l">
              <a:lnSpc>
                <a:spcPct val="118000"/>
              </a:lnSpc>
              <a:spcBef>
                <a:spcPts val="400"/>
              </a:spcBef>
            </a:pPr>
            <a:r>
              <a:rPr sz="1200" b="1">
                <a:solidFill>
                  <a:srgbClr val="C9A84C"/>
                </a:solidFill>
                <a:latin typeface="Calibri"/>
              </a:rPr>
              <a:t>• </a:t>
            </a:r>
            <a:r>
              <a:rPr sz="1000">
                <a:solidFill>
                  <a:srgbClr val="1E1508"/>
                </a:solidFill>
                <a:latin typeface="Calibri"/>
              </a:rPr>
              <a:t>📅 Pruning past events on every scrape + 🧹 manual button between scrapes</a:t>
            </a:r>
          </a:p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800" i="1">
                <a:solidFill>
                  <a:srgbClr val="5C3A1F"/>
                </a:solidFill>
                <a:latin typeface="Calibri"/>
              </a:rPr>
              <a:t>       ↳  Saturday's farmers market vanishes from the queue at the next refresh — public site never showed it after Sunday anyway.</a:t>
            </a:r>
          </a:p>
          <a:p>
            <a:pPr algn="l">
              <a:lnSpc>
                <a:spcPct val="118000"/>
              </a:lnSpc>
              <a:spcBef>
                <a:spcPts val="400"/>
              </a:spcBef>
            </a:pPr>
            <a:r>
              <a:rPr sz="1200" b="1">
                <a:solidFill>
                  <a:srgbClr val="C9A84C"/>
                </a:solidFill>
                <a:latin typeface="Calibri"/>
              </a:rPr>
              <a:t>• </a:t>
            </a:r>
            <a:r>
              <a:rPr sz="1000">
                <a:solidFill>
                  <a:srgbClr val="1E1508"/>
                </a:solidFill>
                <a:latin typeface="Calibri"/>
              </a:rPr>
              <a:t>🌐 Public RSS feed at /feed.rss — partners republish without integration work</a:t>
            </a:r>
          </a:p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800" i="1">
                <a:solidFill>
                  <a:srgbClr val="5C3A1F"/>
                </a:solidFill>
                <a:latin typeface="Calibri"/>
              </a:rPr>
              <a:t>       ↳  Local newspaper's "this weekend" widget pulls straight from /feed.rss.</a:t>
            </a:r>
          </a:p>
          <a:p>
            <a:pPr algn="l">
              <a:lnSpc>
                <a:spcPct val="118000"/>
              </a:lnSpc>
              <a:spcBef>
                <a:spcPts val="400"/>
              </a:spcBef>
            </a:pPr>
            <a:r>
              <a:rPr sz="1200" b="1">
                <a:solidFill>
                  <a:srgbClr val="C9A84C"/>
                </a:solidFill>
                <a:latin typeface="Calibri"/>
              </a:rPr>
              <a:t>• </a:t>
            </a:r>
            <a:r>
              <a:rPr sz="1000">
                <a:solidFill>
                  <a:srgbClr val="1E1508"/>
                </a:solidFill>
                <a:latin typeface="Calibri"/>
              </a:rPr>
              <a:t>💡 Public "Suggest a venue or event" form — submissions queue for chamber review</a:t>
            </a:r>
          </a:p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800" i="1">
                <a:solidFill>
                  <a:srgbClr val="5C3A1F"/>
                </a:solidFill>
                <a:latin typeface="Calibri"/>
              </a:rPr>
              <a:t>       ↳  Chamber emails members the URL; venue owner fills the form; entry lands in admin Suggestions tab.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 i="0">
                <a:solidFill>
                  <a:srgbClr val="4A5568"/>
                </a:solidFill>
                <a:latin typeface="Calibri"/>
              </a:rPr>
              <a:t>Western Nevada County Experience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92240"/>
            <a:ext cx="109728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4A5568"/>
                </a:solidFill>
                <a:latin typeface="Calibri"/>
              </a:rPr>
              <a:t>10 / 14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455664"/>
            <a:ext cx="11064240" cy="254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200" b="1" i="0">
                <a:solidFill>
                  <a:srgbClr val="5C3A1F"/>
                </a:solidFill>
                <a:latin typeface="Calibri"/>
              </a:rPr>
              <a:t>AI-powered tag refinement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78992"/>
            <a:ext cx="11064240" cy="254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07008"/>
            <a:ext cx="110642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 i="1">
                <a:solidFill>
                  <a:srgbClr val="4A5568"/>
                </a:solidFill>
                <a:latin typeface="Calibri"/>
              </a:rPr>
              <a:t>Claude Haiku adds intelligence where keyword rules stop short — at trivial cost.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548640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 i="0">
                <a:solidFill>
                  <a:srgbClr val="C9A84C"/>
                </a:solidFill>
                <a:latin typeface="Calibri"/>
              </a:rPr>
              <a:t>What it fixes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03120"/>
            <a:ext cx="5486400" cy="3840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C9A84C"/>
                </a:solidFill>
                <a:latin typeface="Calibri"/>
              </a:rPr>
              <a:t>• </a:t>
            </a:r>
            <a:r>
              <a:rPr sz="1000">
                <a:solidFill>
                  <a:srgbClr val="1E1508"/>
                </a:solidFill>
                <a:latin typeface="Calibri"/>
              </a:rPr>
              <a:t>444 of 460 KVMR events tagged "Nevada County" → infers actual community</a:t>
            </a:r>
          </a:p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800" i="1">
                <a:solidFill>
                  <a:srgbClr val="5C3A1F"/>
                </a:solidFill>
                <a:latin typeface="Calibri"/>
              </a:rPr>
              <a:t>       ↳  "KVMR Storytelling Night" gets "Nevada City" instead of vague "Nevada County".</a:t>
            </a:r>
          </a:p>
          <a:p>
            <a:pPr algn="l">
              <a:lnSpc>
                <a:spcPct val="115000"/>
              </a:lnSpc>
              <a:spcBef>
                <a:spcPts val="400"/>
              </a:spcBef>
            </a:pPr>
            <a:r>
              <a:rPr sz="1200" b="1">
                <a:solidFill>
                  <a:srgbClr val="C9A84C"/>
                </a:solidFill>
                <a:latin typeface="Calibri"/>
              </a:rPr>
              <a:t>• </a:t>
            </a:r>
            <a:r>
              <a:rPr sz="1000">
                <a:solidFill>
                  <a:srgbClr val="1E1508"/>
                </a:solidFill>
                <a:latin typeface="Calibri"/>
              </a:rPr>
              <a:t>Empty location field on most KVMR events → extracts venue name</a:t>
            </a:r>
          </a:p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800" i="1">
                <a:solidFill>
                  <a:srgbClr val="5C3A1F"/>
                </a:solidFill>
                <a:latin typeface="Calibri"/>
              </a:rPr>
              <a:t>       ↳  "Center for the Arts" surfaces as the venue from a description-only event.</a:t>
            </a:r>
          </a:p>
          <a:p>
            <a:pPr algn="l">
              <a:lnSpc>
                <a:spcPct val="115000"/>
              </a:lnSpc>
              <a:spcBef>
                <a:spcPts val="400"/>
              </a:spcBef>
            </a:pPr>
            <a:r>
              <a:rPr sz="1200" b="1">
                <a:solidFill>
                  <a:srgbClr val="C9A84C"/>
                </a:solidFill>
                <a:latin typeface="Calibri"/>
              </a:rPr>
              <a:t>• </a:t>
            </a:r>
            <a:r>
              <a:rPr sz="1000">
                <a:solidFill>
                  <a:srgbClr val="1E1508"/>
                </a:solidFill>
                <a:latin typeface="Calibri"/>
              </a:rPr>
              <a:t>"Center for the Arts" → Grass Valley; "Miners Foundry" → Nevada City</a:t>
            </a:r>
          </a:p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800" i="1">
                <a:solidFill>
                  <a:srgbClr val="5C3A1F"/>
                </a:solidFill>
                <a:latin typeface="Calibri"/>
              </a:rPr>
              <a:t>       ↳  Visitor filtering by Grass Valley gets concerts without manual tagging.</a:t>
            </a:r>
          </a:p>
          <a:p>
            <a:pPr algn="l">
              <a:lnSpc>
                <a:spcPct val="115000"/>
              </a:lnSpc>
              <a:spcBef>
                <a:spcPts val="400"/>
              </a:spcBef>
            </a:pPr>
            <a:r>
              <a:rPr sz="1200" b="1">
                <a:solidFill>
                  <a:srgbClr val="C9A84C"/>
                </a:solidFill>
                <a:latin typeface="Calibri"/>
              </a:rPr>
              <a:t>• </a:t>
            </a:r>
            <a:r>
              <a:rPr sz="1000">
                <a:solidFill>
                  <a:srgbClr val="1E1508"/>
                </a:solidFill>
                <a:latin typeface="Calibri"/>
              </a:rPr>
              <a:t>Cluttered descriptions → clean one-line summaries</a:t>
            </a:r>
          </a:p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800" i="1">
                <a:solidFill>
                  <a:srgbClr val="5C3A1F"/>
                </a:solidFill>
                <a:latin typeface="Calibri"/>
              </a:rPr>
              <a:t>       ↳  Long press-release blob shrinks to a clean teaser the visitor will actually read.</a:t>
            </a:r>
          </a:p>
          <a:p>
            <a:pPr algn="l">
              <a:lnSpc>
                <a:spcPct val="115000"/>
              </a:lnSpc>
              <a:spcBef>
                <a:spcPts val="400"/>
              </a:spcBef>
            </a:pPr>
            <a:r>
              <a:rPr sz="1200" b="1">
                <a:solidFill>
                  <a:srgbClr val="C9A84C"/>
                </a:solidFill>
                <a:latin typeface="Calibri"/>
              </a:rPr>
              <a:t>• </a:t>
            </a:r>
            <a:r>
              <a:rPr sz="1000">
                <a:solidFill>
                  <a:srgbClr val="1E1508"/>
                </a:solidFill>
                <a:latin typeface="Calibri"/>
              </a:rPr>
              <a:t>Truckee / Sierra-side events flagged "low quality" → auto-hidden</a:t>
            </a:r>
          </a:p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800" i="1">
                <a:solidFill>
                  <a:srgbClr val="5C3A1F"/>
                </a:solidFill>
                <a:latin typeface="Calibri"/>
              </a:rPr>
              <a:t>       ↳  Tahoe events tagged "low quality" auto-hide on the public site, no manual cleanup.</a:t>
            </a:r>
          </a:p>
          <a:p>
            <a:pPr algn="l">
              <a:lnSpc>
                <a:spcPct val="115000"/>
              </a:lnSpc>
              <a:spcBef>
                <a:spcPts val="400"/>
              </a:spcBef>
            </a:pPr>
            <a:r>
              <a:rPr sz="1200" b="1">
                <a:solidFill>
                  <a:srgbClr val="C9A84C"/>
                </a:solidFill>
                <a:latin typeface="Calibri"/>
              </a:rPr>
              <a:t>• </a:t>
            </a:r>
            <a:r>
              <a:rPr sz="1000">
                <a:solidFill>
                  <a:srgbClr val="1E1508"/>
                </a:solidFill>
                <a:latin typeface="Calibri"/>
              </a:rPr>
              <a:t>Future source refreshes auto-categorize new events with the same logic</a:t>
            </a:r>
          </a:p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800" i="1">
                <a:solidFill>
                  <a:srgbClr val="5C3A1F"/>
                </a:solidFill>
                <a:latin typeface="Calibri"/>
              </a:rPr>
              <a:t>       ↳  Tuesday's new event gets correct area + venue + tags without human touch.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1691640"/>
            <a:ext cx="502920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 i="0">
                <a:solidFill>
                  <a:srgbClr val="C9A84C"/>
                </a:solidFill>
                <a:latin typeface="Calibri"/>
              </a:rPr>
              <a:t>Cost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103120"/>
            <a:ext cx="4937760" cy="384048"/>
          </a:xfrm>
          <a:prstGeom prst="rect">
            <a:avLst/>
          </a:prstGeom>
          <a:solidFill>
            <a:srgbClr val="F5EF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148840"/>
            <a:ext cx="2606040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1" i="0">
                <a:solidFill>
                  <a:srgbClr val="5C3A1F"/>
                </a:solidFill>
                <a:latin typeface="Calibri"/>
              </a:rPr>
              <a:t>Run pattern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2148840"/>
            <a:ext cx="2057400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1" i="0">
                <a:solidFill>
                  <a:srgbClr val="5C3A1F"/>
                </a:solidFill>
                <a:latin typeface="Calibri"/>
              </a:rPr>
              <a:t>Monthly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487168"/>
            <a:ext cx="4937760" cy="254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2523744"/>
            <a:ext cx="4937760" cy="411480"/>
          </a:xfrm>
          <a:prstGeom prst="rect">
            <a:avLst/>
          </a:prstGeom>
          <a:solidFill>
            <a:srgbClr val="FB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569464"/>
            <a:ext cx="260604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1E1508"/>
                </a:solidFill>
                <a:latin typeface="Calibri"/>
              </a:rPr>
              <a:t>First-time bulk (460 events)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2569464"/>
            <a:ext cx="2057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1E1508"/>
                </a:solidFill>
                <a:latin typeface="Calibri"/>
              </a:rPr>
              <a:t>~$0.30 once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980944"/>
            <a:ext cx="260604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1E1508"/>
                </a:solidFill>
                <a:latin typeface="Calibri"/>
              </a:rPr>
              <a:t>Daily refresh + categorize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2980944"/>
            <a:ext cx="2057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1E1508"/>
                </a:solidFill>
                <a:latin typeface="Calibri"/>
              </a:rPr>
              <a:t>$0.30 – $0.60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346704"/>
            <a:ext cx="4937760" cy="411480"/>
          </a:xfrm>
          <a:prstGeom prst="rect">
            <a:avLst/>
          </a:prstGeom>
          <a:solidFill>
            <a:srgbClr val="FB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392424"/>
            <a:ext cx="260604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1E1508"/>
                </a:solidFill>
                <a:latin typeface="Calibri"/>
              </a:rPr>
              <a:t>Weekly refresh + categorize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83280" y="3392424"/>
            <a:ext cx="2057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1E1508"/>
                </a:solidFill>
                <a:latin typeface="Calibri"/>
              </a:rPr>
              <a:t>$0.16 – $0.52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3803904"/>
            <a:ext cx="260604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1E1508"/>
                </a:solidFill>
                <a:latin typeface="Calibri"/>
              </a:rPr>
              <a:t>Realistic chamber operation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83280" y="3803904"/>
            <a:ext cx="2057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1E1508"/>
                </a:solidFill>
                <a:latin typeface="Calibri"/>
              </a:rPr>
              <a:t>~$0.50 – $1.00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5943600"/>
            <a:ext cx="11064240" cy="457200"/>
          </a:xfrm>
          <a:prstGeom prst="rect">
            <a:avLst/>
          </a:prstGeom>
          <a:solidFill>
            <a:srgbClr val="FBF7EE"/>
          </a:solidFill>
          <a:ln w="63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5989320"/>
            <a:ext cx="10881360" cy="3657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100" b="0" i="1">
                <a:solidFill>
                  <a:srgbClr val="5C3A1F"/>
                </a:solidFill>
                <a:latin typeface="Calibri"/>
              </a:rPr>
              <a:t>Hard $5/month spending cap settable in Anthropic console — cannot be exceeded.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 i="0">
                <a:solidFill>
                  <a:srgbClr val="4A5568"/>
                </a:solidFill>
                <a:latin typeface="Calibri"/>
              </a:rPr>
              <a:t>Western Nevada County Experience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0" y="6492240"/>
            <a:ext cx="109728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4A5568"/>
                </a:solidFill>
                <a:latin typeface="Calibri"/>
              </a:rPr>
              <a:t>11 / 14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6455664"/>
            <a:ext cx="11064240" cy="254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200" b="1" i="0">
                <a:solidFill>
                  <a:srgbClr val="5C3A1F"/>
                </a:solidFill>
                <a:latin typeface="Calibri"/>
              </a:rPr>
              <a:t>What it costs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78992"/>
            <a:ext cx="11064240" cy="254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07008"/>
            <a:ext cx="110642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 i="1">
                <a:solidFill>
                  <a:srgbClr val="4A5568"/>
                </a:solidFill>
                <a:latin typeface="Calibri"/>
              </a:rPr>
              <a:t>Three operating scenarios for the first year of operation.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91640"/>
            <a:ext cx="2606040" cy="1554480"/>
          </a:xfrm>
          <a:prstGeom prst="rect">
            <a:avLst/>
          </a:prstGeom>
          <a:solidFill>
            <a:srgbClr val="F5EFE2"/>
          </a:solidFill>
          <a:ln w="6350">
            <a:solidFill>
              <a:srgbClr val="D4C9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874520"/>
            <a:ext cx="260604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4400" b="1" i="0">
                <a:solidFill>
                  <a:srgbClr val="C9A84C"/>
                </a:solidFill>
                <a:latin typeface="Calibri"/>
              </a:rPr>
              <a:t>$0–$50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51760"/>
            <a:ext cx="26060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100" b="0" i="0">
                <a:solidFill>
                  <a:srgbClr val="4A5568"/>
                </a:solidFill>
                <a:latin typeface="Calibri"/>
              </a:rPr>
              <a:t>LEAN
Free hosting + AI off</a:t>
            </a:r>
          </a:p>
        </p:txBody>
      </p:sp>
      <p:sp>
        <p:nvSpPr>
          <p:cNvPr id="8" name="Rectangle 7"/>
          <p:cNvSpPr/>
          <p:nvPr/>
        </p:nvSpPr>
        <p:spPr>
          <a:xfrm>
            <a:off x="3337560" y="1691640"/>
            <a:ext cx="2606040" cy="1554480"/>
          </a:xfrm>
          <a:prstGeom prst="rect">
            <a:avLst/>
          </a:prstGeom>
          <a:solidFill>
            <a:srgbClr val="F5EFE2"/>
          </a:solidFill>
          <a:ln w="6350">
            <a:solidFill>
              <a:srgbClr val="D4C9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37560" y="1874520"/>
            <a:ext cx="260604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4400" b="1" i="0">
                <a:solidFill>
                  <a:srgbClr val="C9A84C"/>
                </a:solidFill>
                <a:latin typeface="Calibri"/>
              </a:rPr>
              <a:t>$80–$150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37560" y="2651760"/>
            <a:ext cx="26060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100" b="0" i="0">
                <a:solidFill>
                  <a:srgbClr val="4A5568"/>
                </a:solidFill>
                <a:latin typeface="Calibri"/>
              </a:rPr>
              <a:t>TYPICAL
$5/mo VPS + weekly AI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1691640"/>
            <a:ext cx="2606040" cy="1554480"/>
          </a:xfrm>
          <a:prstGeom prst="rect">
            <a:avLst/>
          </a:prstGeom>
          <a:solidFill>
            <a:srgbClr val="F5EFE2"/>
          </a:solidFill>
          <a:ln w="6350">
            <a:solidFill>
              <a:srgbClr val="D4C9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0" y="1874520"/>
            <a:ext cx="260604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4400" b="1" i="0">
                <a:solidFill>
                  <a:srgbClr val="C9A84C"/>
                </a:solidFill>
                <a:latin typeface="Calibri"/>
              </a:rPr>
              <a:t>$300–$500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2651760"/>
            <a:ext cx="26060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100" b="0" i="0">
                <a:solidFill>
                  <a:srgbClr val="4A5568"/>
                </a:solidFill>
                <a:latin typeface="Calibri"/>
              </a:rPr>
              <a:t>PREMIUM
Managed + daily AI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15400" y="1691640"/>
            <a:ext cx="2606040" cy="1554480"/>
          </a:xfrm>
          <a:prstGeom prst="rect">
            <a:avLst/>
          </a:prstGeom>
          <a:solidFill>
            <a:srgbClr val="F5EFE2"/>
          </a:solidFill>
          <a:ln w="6350">
            <a:solidFill>
              <a:srgbClr val="D4C9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15400" y="1874520"/>
            <a:ext cx="260604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4400" b="1" i="0">
                <a:solidFill>
                  <a:srgbClr val="C9A84C"/>
                </a:solidFill>
                <a:latin typeface="Calibri"/>
              </a:rPr>
              <a:t>$5K–$30K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15400" y="2651760"/>
            <a:ext cx="26060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100" b="0" i="0">
                <a:solidFill>
                  <a:srgbClr val="4A5568"/>
                </a:solidFill>
                <a:latin typeface="Calibri"/>
              </a:rPr>
              <a:t>COMMERCIAL ALT.
CrowdRiff / Simpleview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520440"/>
            <a:ext cx="548640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 i="0">
                <a:solidFill>
                  <a:srgbClr val="C9A84C"/>
                </a:solidFill>
                <a:latin typeface="Calibri"/>
              </a:rPr>
              <a:t>What's NOT a cost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931920"/>
            <a:ext cx="11064240" cy="23774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1">
                <a:solidFill>
                  <a:srgbClr val="C9A84C"/>
                </a:solidFill>
                <a:latin typeface="Calibri"/>
              </a:rPr>
              <a:t>• </a:t>
            </a:r>
            <a:r>
              <a:rPr sz="1200">
                <a:solidFill>
                  <a:srgbClr val="1E1508"/>
                </a:solidFill>
                <a:latin typeface="Calibri"/>
              </a:rPr>
              <a:t>Per-listing fees — every chamber member free</a:t>
            </a:r>
          </a:p>
          <a:p>
            <a:pPr algn="l">
              <a:lnSpc>
                <a:spcPct val="140000"/>
              </a:lnSpc>
              <a:spcBef>
                <a:spcPts val="600"/>
              </a:spcBef>
            </a:pPr>
            <a:r>
              <a:rPr sz="1400" b="1">
                <a:solidFill>
                  <a:srgbClr val="C9A84C"/>
                </a:solidFill>
                <a:latin typeface="Calibri"/>
              </a:rPr>
              <a:t>• </a:t>
            </a:r>
            <a:r>
              <a:rPr sz="1200">
                <a:solidFill>
                  <a:srgbClr val="1E1508"/>
                </a:solidFill>
                <a:latin typeface="Calibri"/>
              </a:rPr>
              <a:t>Per-event fees — event sources cost zero</a:t>
            </a:r>
          </a:p>
          <a:p>
            <a:pPr algn="l">
              <a:lnSpc>
                <a:spcPct val="140000"/>
              </a:lnSpc>
              <a:spcBef>
                <a:spcPts val="600"/>
              </a:spcBef>
            </a:pPr>
            <a:r>
              <a:rPr sz="1400" b="1">
                <a:solidFill>
                  <a:srgbClr val="C9A84C"/>
                </a:solidFill>
                <a:latin typeface="Calibri"/>
              </a:rPr>
              <a:t>• </a:t>
            </a:r>
            <a:r>
              <a:rPr sz="1200">
                <a:solidFill>
                  <a:srgbClr val="1E1508"/>
                </a:solidFill>
                <a:latin typeface="Calibri"/>
              </a:rPr>
              <a:t>Per-visitor fees — traffic 10× has no impact</a:t>
            </a:r>
          </a:p>
          <a:p>
            <a:pPr algn="l">
              <a:lnSpc>
                <a:spcPct val="140000"/>
              </a:lnSpc>
              <a:spcBef>
                <a:spcPts val="600"/>
              </a:spcBef>
            </a:pPr>
            <a:r>
              <a:rPr sz="1400" b="1">
                <a:solidFill>
                  <a:srgbClr val="C9A84C"/>
                </a:solidFill>
                <a:latin typeface="Calibri"/>
              </a:rPr>
              <a:t>• </a:t>
            </a:r>
            <a:r>
              <a:rPr sz="1200">
                <a:solidFill>
                  <a:srgbClr val="1E1508"/>
                </a:solidFill>
                <a:latin typeface="Calibri"/>
              </a:rPr>
              <a:t>Vendor termination fees — owned outright</a:t>
            </a:r>
          </a:p>
          <a:p>
            <a:pPr algn="l">
              <a:lnSpc>
                <a:spcPct val="140000"/>
              </a:lnSpc>
              <a:spcBef>
                <a:spcPts val="600"/>
              </a:spcBef>
            </a:pPr>
            <a:r>
              <a:rPr sz="1400" b="1">
                <a:solidFill>
                  <a:srgbClr val="C9A84C"/>
                </a:solidFill>
                <a:latin typeface="Calibri"/>
              </a:rPr>
              <a:t>• </a:t>
            </a:r>
            <a:r>
              <a:rPr sz="1200">
                <a:solidFill>
                  <a:srgbClr val="1E1508"/>
                </a:solidFill>
                <a:latin typeface="Calibri"/>
              </a:rPr>
              <a:t>Privacy compliance overhead — nothing collected to comply about</a:t>
            </a:r>
          </a:p>
          <a:p>
            <a:pPr algn="l">
              <a:lnSpc>
                <a:spcPct val="140000"/>
              </a:lnSpc>
              <a:spcBef>
                <a:spcPts val="600"/>
              </a:spcBef>
            </a:pPr>
            <a:r>
              <a:rPr sz="1400" b="1">
                <a:solidFill>
                  <a:srgbClr val="C9A84C"/>
                </a:solidFill>
                <a:latin typeface="Calibri"/>
              </a:rPr>
              <a:t>• </a:t>
            </a:r>
            <a:r>
              <a:rPr sz="1200">
                <a:solidFill>
                  <a:srgbClr val="1E1508"/>
                </a:solidFill>
                <a:latin typeface="Calibri"/>
              </a:rPr>
              <a:t>License fees — fully open-source stack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 i="0">
                <a:solidFill>
                  <a:srgbClr val="4A5568"/>
                </a:solidFill>
                <a:latin typeface="Calibri"/>
              </a:rPr>
              <a:t>Western Nevada County Experience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0" y="6492240"/>
            <a:ext cx="109728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4A5568"/>
                </a:solidFill>
                <a:latin typeface="Calibri"/>
              </a:rPr>
              <a:t>12 / 14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6455664"/>
            <a:ext cx="11064240" cy="254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200" b="1" i="0">
                <a:solidFill>
                  <a:srgbClr val="5C3A1F"/>
                </a:solidFill>
                <a:latin typeface="Calibri"/>
              </a:rPr>
              <a:t>Where the group can take this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78992"/>
            <a:ext cx="11064240" cy="254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07008"/>
            <a:ext cx="110642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 i="1">
                <a:solidFill>
                  <a:srgbClr val="4A5568"/>
                </a:solidFill>
                <a:latin typeface="Calibri"/>
              </a:rPr>
              <a:t>Findings from the build — collaborative work that would unlock the next version.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36576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C9A84C"/>
                </a:solidFill>
                <a:latin typeface="Calibri"/>
              </a:rPr>
              <a:t>DATA PARTNERSHIPS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57400"/>
            <a:ext cx="3657600" cy="3840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1">
                <a:solidFill>
                  <a:srgbClr val="C9A84C"/>
                </a:solidFill>
                <a:latin typeface="Calibri"/>
              </a:rPr>
              <a:t>• </a:t>
            </a:r>
            <a:r>
              <a:rPr sz="900">
                <a:solidFill>
                  <a:srgbClr val="1E1508"/>
                </a:solidFill>
                <a:latin typeface="Calibri"/>
              </a:rPr>
              <a:t>Ask NCAC for read access to their Trumba master — its 540-event, 16-month window is the most comprehensive feed in the county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100" b="1">
                <a:solidFill>
                  <a:srgbClr val="C9A84C"/>
                </a:solidFill>
                <a:latin typeface="Calibri"/>
              </a:rPr>
              <a:t>• </a:t>
            </a:r>
            <a:r>
              <a:rPr sz="900">
                <a:solidFill>
                  <a:srgbClr val="1E1508"/>
                </a:solidFill>
                <a:latin typeface="Calibri"/>
              </a:rPr>
              <a:t>Reach out to GoNevadaCounty (gonevadacounty.com) for a public events feed — Cloudflare blocks automated access and we lose the 13 anchor festivals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100" b="1">
                <a:solidFill>
                  <a:srgbClr val="C9A84C"/>
                </a:solidFill>
                <a:latin typeface="Calibri"/>
              </a:rPr>
              <a:t>• </a:t>
            </a:r>
            <a:r>
              <a:rPr sz="900">
                <a:solidFill>
                  <a:srgbClr val="1E1508"/>
                </a:solidFill>
                <a:latin typeface="Calibri"/>
              </a:rPr>
              <a:t>Coordinate with The Union for a public events feed — articles are paywalled and the RSS often returns nothing usable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100" b="1">
                <a:solidFill>
                  <a:srgbClr val="C9A84C"/>
                </a:solidFill>
                <a:latin typeface="Calibri"/>
              </a:rPr>
              <a:t>• </a:t>
            </a:r>
            <a:r>
              <a:rPr sz="900">
                <a:solidFill>
                  <a:srgbClr val="1E1508"/>
                </a:solidFill>
                <a:latin typeface="Calibri"/>
              </a:rPr>
              <a:t>Confirm whether the County itself runs a Trumba master calendar — if so, federate from it instead of NCAC alone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1691640"/>
            <a:ext cx="36576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C9A84C"/>
                </a:solidFill>
                <a:latin typeface="Calibri"/>
              </a:rPr>
              <a:t>MEMBER OUTREACH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2057400"/>
            <a:ext cx="3657600" cy="3840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1">
                <a:solidFill>
                  <a:srgbClr val="C9A84C"/>
                </a:solidFill>
                <a:latin typeface="Calibri"/>
              </a:rPr>
              <a:t>• </a:t>
            </a:r>
            <a:r>
              <a:rPr sz="900">
                <a:solidFill>
                  <a:srgbClr val="1E1508"/>
                </a:solidFill>
                <a:latin typeface="Calibri"/>
              </a:rPr>
              <a:t>Encourage venues to publish events on a platform with a public feed — Trumba, Tribe Events (WordPress), Eventbrite — not just static HTML pages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100" b="1">
                <a:solidFill>
                  <a:srgbClr val="C9A84C"/>
                </a:solidFill>
                <a:latin typeface="Calibri"/>
              </a:rPr>
              <a:t>• </a:t>
            </a:r>
            <a:r>
              <a:rPr sz="900">
                <a:solidFill>
                  <a:srgbClr val="1E1508"/>
                </a:solidFill>
                <a:latin typeface="Calibri"/>
              </a:rPr>
              <a:t>Push schema.org/Event JSON-LD adoption — one snippet on each event page makes auto-importing reliable without custom code per site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100" b="1">
                <a:solidFill>
                  <a:srgbClr val="C9A84C"/>
                </a:solidFill>
                <a:latin typeface="Calibri"/>
              </a:rPr>
              <a:t>• </a:t>
            </a:r>
            <a:r>
              <a:rPr sz="900">
                <a:solidFill>
                  <a:srgbClr val="1E1508"/>
                </a:solidFill>
                <a:latin typeface="Calibri"/>
              </a:rPr>
              <a:t>Promote the public "Suggest a venue or event" form to members — already wired (footer + admin queue); the lift is socialization, not engineering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100" b="1">
                <a:solidFill>
                  <a:srgbClr val="C9A84C"/>
                </a:solidFill>
                <a:latin typeface="Calibri"/>
              </a:rPr>
              <a:t>• </a:t>
            </a:r>
            <a:r>
              <a:rPr sz="900">
                <a:solidFill>
                  <a:srgbClr val="1E1508"/>
                </a:solidFill>
                <a:latin typeface="Calibri"/>
              </a:rPr>
              <a:t>Identify the 5-10 venues responsible for the bulk of visitor traffic and prioritize their data reliability over long-tail coverage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1691640"/>
            <a:ext cx="36576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C9A84C"/>
                </a:solidFill>
                <a:latin typeface="Calibri"/>
              </a:rPr>
              <a:t>OPERATIONS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2057400"/>
            <a:ext cx="3657600" cy="3840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1">
                <a:solidFill>
                  <a:srgbClr val="C9A84C"/>
                </a:solidFill>
                <a:latin typeface="Calibri"/>
              </a:rPr>
              <a:t>• </a:t>
            </a:r>
            <a:r>
              <a:rPr sz="850">
                <a:solidFill>
                  <a:srgbClr val="1E1508"/>
                </a:solidFill>
                <a:latin typeface="Calibri"/>
              </a:rPr>
              <a:t>Schedule the scraper to run nightly via Windows Task Scheduler / cron / systemd — auto-prune of past events is built in but only fires when the scraper runs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050" b="1">
                <a:solidFill>
                  <a:srgbClr val="C9A84C"/>
                </a:solidFill>
                <a:latin typeface="Calibri"/>
              </a:rPr>
              <a:t>• </a:t>
            </a:r>
            <a:r>
              <a:rPr sz="850">
                <a:solidFill>
                  <a:srgbClr val="1E1508"/>
                </a:solidFill>
                <a:latin typeface="Calibri"/>
              </a:rPr>
              <a:t>Designate a queue curator — someone clears the pending-events queue 1-2x per week (Approve / Dismiss takes ~5 minutes per session)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050" b="1">
                <a:solidFill>
                  <a:srgbClr val="C9A84C"/>
                </a:solidFill>
                <a:latin typeface="Calibri"/>
              </a:rPr>
              <a:t>• </a:t>
            </a:r>
            <a:r>
              <a:rPr sz="850">
                <a:solidFill>
                  <a:srgbClr val="1E1508"/>
                </a:solidFill>
                <a:latin typeface="Calibri"/>
              </a:rPr>
              <a:t>Click 🧹 Prune Past between scrapes for ad-hoc cleanup — same logic as the auto-prune, useful when events get added or dismissed off-cycle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050" b="1">
                <a:solidFill>
                  <a:srgbClr val="C9A84C"/>
                </a:solidFill>
                <a:latin typeface="Calibri"/>
              </a:rPr>
              <a:t>• </a:t>
            </a:r>
            <a:r>
              <a:rPr sz="850">
                <a:solidFill>
                  <a:srgbClr val="1E1508"/>
                </a:solidFill>
                <a:latin typeface="Calibri"/>
              </a:rPr>
              <a:t>Run AI Categorize after each refresh — fixes venue, area, tags on long-tail events ($0.50/mo)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050" b="1">
                <a:solidFill>
                  <a:srgbClr val="C9A84C"/>
                </a:solidFill>
                <a:latin typeface="Calibri"/>
              </a:rPr>
              <a:t>• </a:t>
            </a:r>
            <a:r>
              <a:rPr sz="850">
                <a:solidFill>
                  <a:srgbClr val="1E1508"/>
                </a:solidFill>
                <a:latin typeface="Calibri"/>
              </a:rPr>
              <a:t>Validate "no event" alerts — when a source returns 0 events, it has either gone down or restructured (NCAC was a false negative for months before we caught it)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050" b="1">
                <a:solidFill>
                  <a:srgbClr val="C9A84C"/>
                </a:solidFill>
                <a:latin typeface="Calibri"/>
              </a:rPr>
              <a:t>• </a:t>
            </a:r>
            <a:r>
              <a:rPr sz="850">
                <a:solidFill>
                  <a:srgbClr val="1E1508"/>
                </a:solidFill>
                <a:latin typeface="Calibri"/>
              </a:rPr>
              <a:t>Quarterly review of disabled sources — vendors change platforms (e.g. NCAC moved to Trumba) and previously-blocked sources become reachable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5943600"/>
            <a:ext cx="11064240" cy="457200"/>
          </a:xfrm>
          <a:prstGeom prst="rect">
            <a:avLst/>
          </a:prstGeom>
          <a:solidFill>
            <a:srgbClr val="FBF7EE"/>
          </a:solidFill>
          <a:ln w="63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5989320"/>
            <a:ext cx="10881360" cy="3657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000" b="0" i="1">
                <a:solidFill>
                  <a:srgbClr val="5C3A1F"/>
                </a:solidFill>
                <a:latin typeface="Calibri"/>
              </a:rPr>
              <a:t>Concrete win from this work:  NCAC's calendar went from "0 events" (blocked by an iframe) to 540 events — by hitting Trumba's JSON feed directly.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 i="0">
                <a:solidFill>
                  <a:srgbClr val="4A5568"/>
                </a:solidFill>
                <a:latin typeface="Calibri"/>
              </a:rPr>
              <a:t>Western Nevada County Experience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492240"/>
            <a:ext cx="109728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4A5568"/>
                </a:solidFill>
                <a:latin typeface="Calibri"/>
              </a:rPr>
              <a:t>13 / 14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6455664"/>
            <a:ext cx="11064240" cy="254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5C3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0" y="0"/>
            <a:ext cx="73152" cy="68580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194560"/>
            <a:ext cx="3383280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4400" b="1" i="0">
                <a:solidFill>
                  <a:srgbClr val="E8C96A"/>
                </a:solidFill>
                <a:latin typeface="Calibri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108960"/>
            <a:ext cx="338328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200" b="0" i="1">
                <a:solidFill>
                  <a:srgbClr val="FFFFFF"/>
                </a:solidFill>
                <a:latin typeface="Calibri"/>
              </a:rPr>
              <a:t>Questions?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80560" y="2194560"/>
            <a:ext cx="713232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 i="0">
                <a:solidFill>
                  <a:srgbClr val="C9A84C"/>
                </a:solidFill>
                <a:latin typeface="Calibri"/>
              </a:rPr>
              <a:t>The leave-behind one-liner</a:t>
            </a:r>
          </a:p>
        </p:txBody>
      </p:sp>
      <p:sp>
        <p:nvSpPr>
          <p:cNvPr id="7" name="Rectangle 6"/>
          <p:cNvSpPr/>
          <p:nvPr/>
        </p:nvSpPr>
        <p:spPr>
          <a:xfrm>
            <a:off x="4480560" y="2606040"/>
            <a:ext cx="6858000" cy="254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560" y="2788920"/>
            <a:ext cx="7132320" cy="22860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 i="1">
                <a:solidFill>
                  <a:srgbClr val="5C3A1F"/>
                </a:solidFill>
                <a:latin typeface="Calibri"/>
              </a:rPr>
              <a:t>"This isn't a website — it's a planning workspace for visitors and a living directory for the chamber, with AI-assisted curation built in. Privacy-respecting by default, owned by the county outright, maintained in minutes per week."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0" y="5120640"/>
            <a:ext cx="7132320" cy="1371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 i="0">
                <a:solidFill>
                  <a:srgbClr val="4A5568"/>
                </a:solidFill>
                <a:latin typeface="Consolas"/>
              </a:rPr>
              <a:t>Live demo:  liammlrb-eng.github.io/nevada-county-experiences
Repo:       github.com/liammlrb-eng/nevada-county-experiences
Pitch deck: demo_pitch.pdf  ·  Operator guide: operator_guide.pdf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0" y="411480"/>
            <a:ext cx="384048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900" b="1" i="0">
                <a:solidFill>
                  <a:srgbClr val="C9A84C"/>
                </a:solidFill>
                <a:latin typeface="Calibri"/>
              </a:rPr>
              <a:t>APPENDIX  ·  PULL UP IF ASKED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200" b="1" i="0">
                <a:solidFill>
                  <a:srgbClr val="5C3A1F"/>
                </a:solidFill>
                <a:latin typeface="Calibri"/>
              </a:rPr>
              <a:t>Migration to a county server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78992"/>
            <a:ext cx="11064240" cy="254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07008"/>
            <a:ext cx="110642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 i="1">
                <a:solidFill>
                  <a:srgbClr val="4A5568"/>
                </a:solidFill>
                <a:latin typeface="Calibri"/>
              </a:rPr>
              <a:t>One focused half-day for someone comfortable with Linux; two days for a learner.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91640"/>
            <a:ext cx="11064240" cy="384048"/>
          </a:xfrm>
          <a:prstGeom prst="rect">
            <a:avLst/>
          </a:prstGeom>
          <a:solidFill>
            <a:srgbClr val="F5EF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737360"/>
            <a:ext cx="1325880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1" i="0">
                <a:solidFill>
                  <a:srgbClr val="5C3A1F"/>
                </a:solidFill>
                <a:latin typeface="Calibri"/>
              </a:rPr>
              <a:t>Phase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03120" y="1737360"/>
            <a:ext cx="9464040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1" i="0">
                <a:solidFill>
                  <a:srgbClr val="5C3A1F"/>
                </a:solidFill>
                <a:latin typeface="Calibri"/>
              </a:rPr>
              <a:t>What happens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075688"/>
            <a:ext cx="11064240" cy="254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112264"/>
            <a:ext cx="11064240" cy="365760"/>
          </a:xfrm>
          <a:prstGeom prst="rect">
            <a:avLst/>
          </a:prstGeom>
          <a:solidFill>
            <a:srgbClr val="FB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157984"/>
            <a:ext cx="132588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1E1508"/>
                </a:solidFill>
                <a:latin typeface="Calibri"/>
              </a:rPr>
              <a:t>Phase 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20" y="2157984"/>
            <a:ext cx="946404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1E1508"/>
                </a:solidFill>
                <a:latin typeface="Calibri"/>
              </a:rPr>
              <a:t>Decisions: hosting (DigitalOcean $6/mo recommended), domain, OS, server account ownership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523744"/>
            <a:ext cx="132588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1E1508"/>
                </a:solidFill>
                <a:latin typeface="Calibri"/>
              </a:rPr>
              <a:t>Phase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03120" y="2523744"/>
            <a:ext cx="946404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1E1508"/>
                </a:solidFill>
                <a:latin typeface="Calibri"/>
              </a:rPr>
              <a:t>Pre-flight: domain registered, DNS access, SSH keys ready, Anthropic API key generated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2843784"/>
            <a:ext cx="11064240" cy="365760"/>
          </a:xfrm>
          <a:prstGeom prst="rect">
            <a:avLst/>
          </a:prstGeom>
          <a:solidFill>
            <a:srgbClr val="FB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2889504"/>
            <a:ext cx="132588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1E1508"/>
                </a:solidFill>
                <a:latin typeface="Calibri"/>
              </a:rPr>
              <a:t>Phase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20" y="2889504"/>
            <a:ext cx="946404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1E1508"/>
                </a:solidFill>
                <a:latin typeface="Calibri"/>
              </a:rPr>
              <a:t>Provision: $6/mo Ubuntu droplet, lockdown SSH, install Python + nginx + chromium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255264"/>
            <a:ext cx="132588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1E1508"/>
                </a:solidFill>
                <a:latin typeface="Calibri"/>
              </a:rPr>
              <a:t>Phase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03120" y="3255264"/>
            <a:ext cx="946404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1E1508"/>
                </a:solidFill>
                <a:latin typeface="Calibri"/>
              </a:rPr>
              <a:t>Deploy: git clone, Python venv, install deps, drop API keys in the config file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575304"/>
            <a:ext cx="11064240" cy="365760"/>
          </a:xfrm>
          <a:prstGeom prst="rect">
            <a:avLst/>
          </a:prstGeom>
          <a:solidFill>
            <a:srgbClr val="FB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3621024"/>
            <a:ext cx="132588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1E1508"/>
                </a:solidFill>
                <a:latin typeface="Calibri"/>
              </a:rPr>
              <a:t>Phase 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03120" y="3621024"/>
            <a:ext cx="946404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1E1508"/>
                </a:solidFill>
                <a:latin typeface="Calibri"/>
              </a:rPr>
              <a:t>systemd service for auto-restart on crash, auto-start on reboot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3986784"/>
            <a:ext cx="132588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1E1508"/>
                </a:solidFill>
                <a:latin typeface="Calibri"/>
              </a:rPr>
              <a:t>Phase 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03120" y="3986784"/>
            <a:ext cx="946404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1E1508"/>
                </a:solidFill>
                <a:latin typeface="Calibri"/>
              </a:rPr>
              <a:t>nginx reverse proxy + Let's Encrypt HTTPS (auto-renew via certbot)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4306824"/>
            <a:ext cx="11064240" cy="365760"/>
          </a:xfrm>
          <a:prstGeom prst="rect">
            <a:avLst/>
          </a:prstGeom>
          <a:solidFill>
            <a:srgbClr val="FB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4352544"/>
            <a:ext cx="132588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1E1508"/>
                </a:solidFill>
                <a:latin typeface="Calibri"/>
              </a:rPr>
              <a:t>Phase 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03120" y="4352544"/>
            <a:ext cx="946404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1E1508"/>
                </a:solidFill>
                <a:latin typeface="Calibri"/>
              </a:rPr>
              <a:t>Schedule nightly: source refresh at 3 AM + AI categorize at 3:30 AM (refresh triggers auto-prune; skip this step and expired events pile up in the queue)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4718304"/>
            <a:ext cx="132588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1E1508"/>
                </a:solidFill>
                <a:latin typeface="Calibri"/>
              </a:rPr>
              <a:t>Phase 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103120" y="4718304"/>
            <a:ext cx="946404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1E1508"/>
                </a:solidFill>
                <a:latin typeface="Calibri"/>
              </a:rPr>
              <a:t>Backups: provider snapshots ($1/mo) + daily JSON tar to off-site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5038344"/>
            <a:ext cx="11064240" cy="365760"/>
          </a:xfrm>
          <a:prstGeom prst="rect">
            <a:avLst/>
          </a:prstGeom>
          <a:solidFill>
            <a:srgbClr val="FB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5084064"/>
            <a:ext cx="132588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1E1508"/>
                </a:solidFill>
                <a:latin typeface="Calibri"/>
              </a:rPr>
              <a:t>Phase 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03120" y="5084064"/>
            <a:ext cx="946404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1E1508"/>
                </a:solidFill>
                <a:latin typeface="Calibri"/>
              </a:rPr>
              <a:t>Test checklist: site loads, vibes work, events populate, AI button works, source updates run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5449824"/>
            <a:ext cx="132588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1E1508"/>
                </a:solidFill>
                <a:latin typeface="Calibri"/>
              </a:rPr>
              <a:t>Phase 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103120" y="5449824"/>
            <a:ext cx="946404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1E1508"/>
                </a:solidFill>
                <a:latin typeface="Calibri"/>
              </a:rPr>
              <a:t>Hand-off to chamber: admin URL, billing alerts, cheat sheet, emergency contact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 i="0">
                <a:solidFill>
                  <a:srgbClr val="4A5568"/>
                </a:solidFill>
                <a:latin typeface="Calibri"/>
              </a:rPr>
              <a:t>Western Nevada County Experience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15600" y="6492240"/>
            <a:ext cx="109728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4A5568"/>
                </a:solidFill>
                <a:latin typeface="Calibri"/>
              </a:rPr>
              <a:t>A1 / A1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" y="6455664"/>
            <a:ext cx="11064240" cy="254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