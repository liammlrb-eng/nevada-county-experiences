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102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0" y="0"/>
            <a:ext cx="73152" cy="6858000"/>
          </a:xfrm>
          <a:prstGeom prst="rect">
            <a:avLst/>
          </a:prstGeom>
          <a:solidFill>
            <a:srgbClr val="F2A9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0"/>
            <a:ext cx="3383280" cy="22860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5720" b="1" i="0">
                <a:solidFill>
                  <a:srgbClr val="FFD18C"/>
                </a:solidFill>
                <a:latin typeface="Calibri"/>
              </a:rPr>
              <a:t>Western
Nevada
County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023360"/>
            <a:ext cx="338328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860" b="0" i="1">
                <a:solidFill>
                  <a:srgbClr val="FFFFFF"/>
                </a:solidFill>
                <a:latin typeface="Calibri"/>
              </a:rPr>
              <a:t>Experience Finder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80560" y="2743200"/>
            <a:ext cx="713232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600" b="1" i="0">
                <a:solidFill>
                  <a:srgbClr val="102444"/>
                </a:solidFill>
                <a:latin typeface="Calibri"/>
              </a:rPr>
              <a:t>Visitor planning platform — county pitch deck</a:t>
            </a:r>
          </a:p>
        </p:txBody>
      </p:sp>
      <p:sp>
        <p:nvSpPr>
          <p:cNvPr id="7" name="Rectangle 6"/>
          <p:cNvSpPr/>
          <p:nvPr/>
        </p:nvSpPr>
        <p:spPr>
          <a:xfrm>
            <a:off x="4480560" y="3291840"/>
            <a:ext cx="6858000" cy="31750"/>
          </a:xfrm>
          <a:prstGeom prst="rect">
            <a:avLst/>
          </a:prstGeom>
          <a:solidFill>
            <a:srgbClr val="10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560" y="3520440"/>
            <a:ext cx="7132320" cy="22860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20" b="0" i="0">
                <a:solidFill>
                  <a:srgbClr val="334155"/>
                </a:solidFill>
                <a:latin typeface="Calibri"/>
              </a:rPr>
              <a:t>A purpose-built tourism platform combining 161 curated experiences with 460+ live local events. Privacy-first, opt-in, no tracking.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4160" b="1" i="0">
                <a:solidFill>
                  <a:srgbClr val="102444"/>
                </a:solidFill>
                <a:latin typeface="Calibri"/>
              </a:rPr>
              <a:t>The strategic insight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31750"/>
          </a:xfrm>
          <a:prstGeom prst="rect">
            <a:avLst/>
          </a:prstGeom>
          <a:solidFill>
            <a:srgbClr val="10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20" b="0" i="1">
                <a:solidFill>
                  <a:srgbClr val="334155"/>
                </a:solidFill>
                <a:latin typeface="Calibri"/>
              </a:rPr>
              <a:t>What sets this apart from a generic tourism site.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1106424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950" b="0" i="0">
                <a:solidFill>
                  <a:srgbClr val="0F172A"/>
                </a:solidFill>
                <a:latin typeface="Calibri"/>
              </a:rPr>
              <a:t>Most tourism sites optimize for visits to the site. The right metric is lodging bookings driven by the site. Those are different optimization targets.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606040"/>
            <a:ext cx="11064240" cy="3200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20000"/>
              </a:lnSpc>
            </a:pPr>
            <a:r>
              <a:rPr sz="1690" b="1">
                <a:solidFill>
                  <a:srgbClr val="F2A93E"/>
                </a:solidFill>
                <a:latin typeface="Calibri"/>
              </a:rPr>
              <a:t>• </a:t>
            </a:r>
            <a:r>
              <a:rPr sz="1430">
                <a:solidFill>
                  <a:srgbClr val="0F172A"/>
                </a:solidFill>
                <a:latin typeface="Calibri"/>
              </a:rPr>
              <a:t>Day-by-day itinerary view structurally surfaces the "where do I sleep?" question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690" b="1">
                <a:solidFill>
                  <a:srgbClr val="F2A93E"/>
                </a:solidFill>
                <a:latin typeface="Calibri"/>
              </a:rPr>
              <a:t>• </a:t>
            </a:r>
            <a:r>
              <a:rPr sz="1430">
                <a:solidFill>
                  <a:srgbClr val="0F172A"/>
                </a:solidFill>
                <a:latin typeface="Calibri"/>
              </a:rPr>
              <a:t>"Find Lodging" CTA at the top of every itinerary — booking always one click away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690" b="1">
                <a:solidFill>
                  <a:srgbClr val="F2A93E"/>
                </a:solidFill>
                <a:latin typeface="Calibri"/>
              </a:rPr>
              <a:t>• </a:t>
            </a:r>
            <a:r>
              <a:rPr sz="1430">
                <a:solidFill>
                  <a:srgbClr val="0F172A"/>
                </a:solidFill>
                <a:latin typeface="Calibri"/>
              </a:rPr>
              <a:t>Empty lodging slots create a visual gap that drives the booking decision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690" b="1">
                <a:solidFill>
                  <a:srgbClr val="F2A93E"/>
                </a:solidFill>
                <a:latin typeface="Calibri"/>
              </a:rPr>
              <a:t>• </a:t>
            </a:r>
            <a:r>
              <a:rPr sz="1430">
                <a:solidFill>
                  <a:srgbClr val="0F172A"/>
                </a:solidFill>
                <a:latin typeface="Calibri"/>
              </a:rPr>
              <a:t>New items default to the latest day — no day-1 pile-up; trip naturally fills out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690" b="1">
                <a:solidFill>
                  <a:srgbClr val="F2A93E"/>
                </a:solidFill>
                <a:latin typeface="Calibri"/>
              </a:rPr>
              <a:t>• </a:t>
            </a:r>
            <a:r>
              <a:rPr sz="1430">
                <a:solidFill>
                  <a:srgbClr val="0F172A"/>
                </a:solidFill>
                <a:latin typeface="Calibri"/>
              </a:rPr>
              <a:t>Print view goes long-form per day — visitors who print, follow it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690" b="1">
                <a:solidFill>
                  <a:srgbClr val="F2A93E"/>
                </a:solidFill>
                <a:latin typeface="Calibri"/>
              </a:rPr>
              <a:t>• </a:t>
            </a:r>
            <a:r>
              <a:rPr sz="1430">
                <a:solidFill>
                  <a:srgbClr val="0F172A"/>
                </a:solidFill>
                <a:latin typeface="Calibri"/>
              </a:rPr>
              <a:t>Smart suggestions are tag + geography aware — clusters keep visitors close to lodging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5669280"/>
            <a:ext cx="11064240" cy="640080"/>
          </a:xfrm>
          <a:prstGeom prst="rect">
            <a:avLst/>
          </a:prstGeom>
          <a:solidFill>
            <a:srgbClr val="F1F5F9"/>
          </a:solidFill>
          <a:ln w="6350">
            <a:solidFill>
              <a:srgbClr val="F2A9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715000"/>
            <a:ext cx="10881360" cy="5486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690" b="0" i="1">
                <a:solidFill>
                  <a:srgbClr val="102444"/>
                </a:solidFill>
                <a:latin typeface="Calibri"/>
              </a:rPr>
              <a:t>"Convince a visitor to add one more night and you double or triple local revenue."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334155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170" b="0" i="0">
                <a:solidFill>
                  <a:srgbClr val="334155"/>
                </a:solidFill>
                <a:latin typeface="Calibri"/>
              </a:rPr>
              <a:t>2 / 14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55664"/>
            <a:ext cx="11064240" cy="31750"/>
          </a:xfrm>
          <a:prstGeom prst="rect">
            <a:avLst/>
          </a:prstGeom>
          <a:solidFill>
            <a:srgbClr val="10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4160" b="1" i="0">
                <a:solidFill>
                  <a:srgbClr val="102444"/>
                </a:solidFill>
                <a:latin typeface="Calibri"/>
              </a:rPr>
              <a:t>What this is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31750"/>
          </a:xfrm>
          <a:prstGeom prst="rect">
            <a:avLst/>
          </a:prstGeom>
          <a:solidFill>
            <a:srgbClr val="10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20" b="0" i="1">
                <a:solidFill>
                  <a:srgbClr val="334155"/>
                </a:solidFill>
                <a:latin typeface="Calibri"/>
              </a:rPr>
              <a:t>A tourism platform for Western Nevada County — Gold Country foothills.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11064240" cy="12801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690" b="0" i="0">
                <a:solidFill>
                  <a:srgbClr val="0F172A"/>
                </a:solidFill>
                <a:latin typeface="Calibri"/>
              </a:rPr>
              <a:t>A purpose-built tourism platform for Western Nevada County — centered on Nevada City and Grass Valley, with full coverage of Penn Valley, North San Juan, Rough &amp; Ready, Washington, Chicago Park, Smartsville, and adjacent Colfax. The platform combines curated places with live local events, so visitors discover what to do AND when it's actually happening.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200400"/>
            <a:ext cx="2606040" cy="146304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3383280"/>
            <a:ext cx="260604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5720" b="1" i="0">
                <a:solidFill>
                  <a:srgbClr val="F2A93E"/>
                </a:solidFill>
                <a:latin typeface="Calibri"/>
              </a:rPr>
              <a:t>161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160520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430" b="0" i="0">
                <a:solidFill>
                  <a:srgbClr val="334155"/>
                </a:solidFill>
                <a:latin typeface="Calibri"/>
              </a:rPr>
              <a:t>Curated experiences
across 11 communities</a:t>
            </a:r>
          </a:p>
        </p:txBody>
      </p:sp>
      <p:sp>
        <p:nvSpPr>
          <p:cNvPr id="9" name="Rectangle 8"/>
          <p:cNvSpPr/>
          <p:nvPr/>
        </p:nvSpPr>
        <p:spPr>
          <a:xfrm>
            <a:off x="3337560" y="3200400"/>
            <a:ext cx="2606040" cy="146304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37560" y="3383280"/>
            <a:ext cx="260604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5720" b="1" i="0">
                <a:solidFill>
                  <a:srgbClr val="F2A93E"/>
                </a:solidFill>
                <a:latin typeface="Calibri"/>
              </a:rPr>
              <a:t>460+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37560" y="4160520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430" b="0" i="0">
                <a:solidFill>
                  <a:srgbClr val="334155"/>
                </a:solidFill>
                <a:latin typeface="Calibri"/>
              </a:rPr>
              <a:t>Live events from
6 sources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3200400"/>
            <a:ext cx="2606040" cy="146304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3383280"/>
            <a:ext cx="260604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5720" b="1" i="0">
                <a:solidFill>
                  <a:srgbClr val="F2A93E"/>
                </a:solidFill>
                <a:latin typeface="Calibri"/>
              </a:rPr>
              <a:t>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4160520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430" b="0" i="0">
                <a:solidFill>
                  <a:srgbClr val="334155"/>
                </a:solidFill>
                <a:latin typeface="Calibri"/>
              </a:rPr>
              <a:t>Themed vibes
for discovery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915400" y="3200400"/>
            <a:ext cx="2606040" cy="146304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15400" y="3383280"/>
            <a:ext cx="260604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5720" b="1" i="0">
                <a:solidFill>
                  <a:srgbClr val="F2A93E"/>
                </a:solidFill>
                <a:latin typeface="Calibri"/>
              </a:rPr>
              <a:t>$5–$20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5400" y="4160520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430" b="0" i="0">
                <a:solidFill>
                  <a:srgbClr val="334155"/>
                </a:solidFill>
                <a:latin typeface="Calibri"/>
              </a:rPr>
              <a:t>Typical
monthly cost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937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0" i="1">
                <a:solidFill>
                  <a:srgbClr val="334155"/>
                </a:solidFill>
                <a:latin typeface="Calibri"/>
              </a:rPr>
              <a:t>Geographic scope: Western Nevada County (Gold Country foothills) + adjacent Colfax.
Truckee and Sierra-side communities are out of scope for this build.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334155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170" b="0" i="0">
                <a:solidFill>
                  <a:srgbClr val="334155"/>
                </a:solidFill>
                <a:latin typeface="Calibri"/>
              </a:rPr>
              <a:t>3 / 14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6455664"/>
            <a:ext cx="11064240" cy="31750"/>
          </a:xfrm>
          <a:prstGeom prst="rect">
            <a:avLst/>
          </a:prstGeom>
          <a:solidFill>
            <a:srgbClr val="10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4160" b="1" i="0">
                <a:solidFill>
                  <a:srgbClr val="102444"/>
                </a:solidFill>
                <a:latin typeface="Calibri"/>
              </a:rPr>
              <a:t>How visitors discover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31750"/>
          </a:xfrm>
          <a:prstGeom prst="rect">
            <a:avLst/>
          </a:prstGeom>
          <a:solidFill>
            <a:srgbClr val="10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20" b="0" i="1">
                <a:solidFill>
                  <a:srgbClr val="334155"/>
                </a:solidFill>
                <a:latin typeface="Calibri"/>
              </a:rPr>
              <a:t>Search, browse, or filter by date — multiple paths to "I found it".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81328"/>
            <a:ext cx="11064240" cy="384048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27048"/>
            <a:ext cx="297180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1" i="0">
                <a:solidFill>
                  <a:srgbClr val="102444"/>
                </a:solidFill>
                <a:latin typeface="Calibri"/>
              </a:rPr>
              <a:t>Discovery path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49040" y="1527048"/>
            <a:ext cx="7818119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1" i="0">
                <a:solidFill>
                  <a:srgbClr val="102444"/>
                </a:solidFill>
                <a:latin typeface="Calibri"/>
              </a:rPr>
              <a:t>What it does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865376"/>
            <a:ext cx="11064240" cy="31750"/>
          </a:xfrm>
          <a:prstGeom prst="rect">
            <a:avLst/>
          </a:prstGeom>
          <a:solidFill>
            <a:srgbClr val="10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901952"/>
            <a:ext cx="11064240" cy="50292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947672"/>
            <a:ext cx="29718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0F172A"/>
                </a:solidFill>
                <a:latin typeface="Calibri"/>
              </a:rPr>
              <a:t>Universal keyword search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40" y="1947672"/>
            <a:ext cx="7818119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0F172A"/>
                </a:solidFill>
                <a:latin typeface="Calibri"/>
              </a:rPr>
              <a:t>One box searches every venue and event — names, descriptions and tags — with built-in synonyms, so a search for "metalsmith" also finds a studio listed only as "blacksmithing"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450592"/>
            <a:ext cx="29718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0F172A"/>
                </a:solidFill>
                <a:latin typeface="Calibri"/>
              </a:rPr>
              <a:t>Themed vibes (9 cards)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49040" y="2450592"/>
            <a:ext cx="7818119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0F172A"/>
                </a:solidFill>
                <a:latin typeface="Calibri"/>
              </a:rPr>
              <a:t>Historic · Arts · Hands-On · Foodie · Active · Relaxed · Wellness · Family · Festivals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907792"/>
            <a:ext cx="11064240" cy="50292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2953512"/>
            <a:ext cx="29718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0F172A"/>
                </a:solidFill>
                <a:latin typeface="Calibri"/>
              </a:rPr>
              <a:t>🏠 Lodging tile — direct route to stays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9040" y="2953512"/>
            <a:ext cx="7818119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0F172A"/>
                </a:solidFill>
                <a:latin typeface="Calibri"/>
              </a:rPr>
              <a:t>A 10th tile alongside the vibes; bypasses the vibe-funnel for "where do I sleep" intent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456432"/>
            <a:ext cx="29718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0F172A"/>
                </a:solidFill>
                <a:latin typeface="Calibri"/>
              </a:rPr>
              <a:t>Vibe-level pills (12+ across all vibes)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40" y="3456432"/>
            <a:ext cx="7818119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0F172A"/>
                </a:solidFill>
                <a:latin typeface="Calibri"/>
              </a:rPr>
              <a:t>Foodie → Wineries / Restaurants / Markets · Active → Hiking / Pickleball / Day-Pass Gyms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3913632"/>
            <a:ext cx="11064240" cy="50292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959352"/>
            <a:ext cx="29718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0F172A"/>
                </a:solidFill>
                <a:latin typeface="Calibri"/>
              </a:rPr>
              <a:t>Category dropdown + sub-pills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49040" y="3959352"/>
            <a:ext cx="7818119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0F172A"/>
                </a:solidFill>
                <a:latin typeface="Calibri"/>
              </a:rPr>
              <a:t>Lodging → Hotels / B&amp;Bs / Glamping / Campgrounds / RV  (and more)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4462272"/>
            <a:ext cx="29718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0F172A"/>
                </a:solidFill>
                <a:latin typeface="Calibri"/>
              </a:rPr>
              <a:t>Activity tags on every card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49040" y="4462272"/>
            <a:ext cx="7818119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0F172A"/>
                </a:solidFill>
                <a:latin typeface="Calibri"/>
              </a:rPr>
              <a:t>Hiking · Biking · Swimming · Fishing · Boating · Running visible at a glance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4919472"/>
            <a:ext cx="11064240" cy="50292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4965192"/>
            <a:ext cx="29718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0F172A"/>
                </a:solidFill>
                <a:latin typeface="Calibri"/>
              </a:rPr>
              <a:t>Date filter + auto-season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49040" y="4965192"/>
            <a:ext cx="7818119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0F172A"/>
                </a:solidFill>
                <a:latin typeface="Calibri"/>
              </a:rPr>
              <a:t>All Future · Today · Weekend · This Week — auto-hides summer-only items in winter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5468112"/>
            <a:ext cx="29718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0F172A"/>
                </a:solidFill>
                <a:latin typeface="Calibri"/>
              </a:rPr>
              <a:t>Area filter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40" y="5468112"/>
            <a:ext cx="7818119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0F172A"/>
                </a:solidFill>
                <a:latin typeface="Calibri"/>
              </a:rPr>
              <a:t>County-wide events show for any local area; city events filter normally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5925312"/>
            <a:ext cx="11064240" cy="50292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5971032"/>
            <a:ext cx="29718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0F172A"/>
                </a:solidFill>
                <a:latin typeface="Calibri"/>
              </a:rPr>
              <a:t>Tag-aware Smart Suggestions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749040" y="5971032"/>
            <a:ext cx="7818119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0F172A"/>
                </a:solidFill>
                <a:latin typeface="Calibri"/>
              </a:rPr>
              <a:t>"Near Your Stops" panel in the itinerary — geographic + tag scoring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334155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170" b="0" i="0">
                <a:solidFill>
                  <a:srgbClr val="334155"/>
                </a:solidFill>
                <a:latin typeface="Calibri"/>
              </a:rPr>
              <a:t>4 / 14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6455664"/>
            <a:ext cx="11064240" cy="31750"/>
          </a:xfrm>
          <a:prstGeom prst="rect">
            <a:avLst/>
          </a:prstGeom>
          <a:solidFill>
            <a:srgbClr val="10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4160" b="1" i="0">
                <a:solidFill>
                  <a:srgbClr val="102444"/>
                </a:solidFill>
                <a:latin typeface="Calibri"/>
              </a:rPr>
              <a:t>Day-by-day itinerary builder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31750"/>
          </a:xfrm>
          <a:prstGeom prst="rect">
            <a:avLst/>
          </a:prstGeom>
          <a:solidFill>
            <a:srgbClr val="10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20" b="0" i="1">
                <a:solidFill>
                  <a:srgbClr val="334155"/>
                </a:solidFill>
                <a:latin typeface="Calibri"/>
              </a:rPr>
              <a:t>Visitors think in nights, not stops — the planner reflects that.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6400800" cy="4846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560" b="1">
                <a:solidFill>
                  <a:srgbClr val="F2A93E"/>
                </a:solidFill>
                <a:latin typeface="Calibri"/>
              </a:rPr>
              <a:t>• </a:t>
            </a:r>
            <a:r>
              <a:rPr sz="1300">
                <a:solidFill>
                  <a:srgbClr val="0F172A"/>
                </a:solidFill>
                <a:latin typeface="Calibri"/>
              </a:rPr>
              <a:t>Each day has its own card with a numbered header and calendar date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560" b="1">
                <a:solidFill>
                  <a:srgbClr val="F2A93E"/>
                </a:solidFill>
                <a:latin typeface="Calibri"/>
              </a:rPr>
              <a:t>• </a:t>
            </a:r>
            <a:r>
              <a:rPr sz="1300">
                <a:solidFill>
                  <a:srgbClr val="0F172A"/>
                </a:solidFill>
                <a:latin typeface="Calibri"/>
              </a:rPr>
              <a:t>Per-day "Tonight's Stay" lodging slot — empty slots prompt for booking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560" b="1">
                <a:solidFill>
                  <a:srgbClr val="F2A93E"/>
                </a:solidFill>
                <a:latin typeface="Calibri"/>
              </a:rPr>
              <a:t>• </a:t>
            </a:r>
            <a:r>
              <a:rPr sz="1300">
                <a:solidFill>
                  <a:srgbClr val="0F172A"/>
                </a:solidFill>
                <a:latin typeface="Calibri"/>
              </a:rPr>
              <a:t>Drag-free move-between-days dropdown on every item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560" b="1">
                <a:solidFill>
                  <a:srgbClr val="F2A93E"/>
                </a:solidFill>
                <a:latin typeface="Calibri"/>
              </a:rPr>
              <a:t>• </a:t>
            </a:r>
            <a:r>
              <a:rPr sz="1300">
                <a:solidFill>
                  <a:srgbClr val="0F172A"/>
                </a:solidFill>
                <a:latin typeface="Calibri"/>
              </a:rPr>
              <a:t>Add Day → returns visitor to browse mode for the new day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560" b="1">
                <a:solidFill>
                  <a:srgbClr val="F2A93E"/>
                </a:solidFill>
                <a:latin typeface="Calibri"/>
              </a:rPr>
              <a:t>• </a:t>
            </a:r>
            <a:r>
              <a:rPr sz="1300">
                <a:solidFill>
                  <a:srgbClr val="0F172A"/>
                </a:solidFill>
                <a:latin typeface="Calibri"/>
              </a:rPr>
              <a:t>Find Lodging button at top of itinerary jumps directly to lodging filter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560" b="1">
                <a:solidFill>
                  <a:srgbClr val="F2A93E"/>
                </a:solidFill>
                <a:latin typeface="Calibri"/>
              </a:rPr>
              <a:t>• </a:t>
            </a:r>
            <a:r>
              <a:rPr sz="1300">
                <a:solidFill>
                  <a:srgbClr val="0F172A"/>
                </a:solidFill>
                <a:latin typeface="Calibri"/>
              </a:rPr>
              <a:t>Events go INTO the itinerary first; the visitor decides what to commit to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560" b="1">
                <a:solidFill>
                  <a:srgbClr val="F2A93E"/>
                </a:solidFill>
                <a:latin typeface="Calibri"/>
              </a:rPr>
              <a:t>• </a:t>
            </a:r>
            <a:r>
              <a:rPr sz="1300">
                <a:solidFill>
                  <a:srgbClr val="0F172A"/>
                </a:solidFill>
                <a:latin typeface="Calibri"/>
              </a:rPr>
              <a:t>🗺 Map view — every stop on a Leaflet map; click pins to navigate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560" b="1">
                <a:solidFill>
                  <a:srgbClr val="F2A93E"/>
                </a:solidFill>
                <a:latin typeface="Calibri"/>
              </a:rPr>
              <a:t>• </a:t>
            </a:r>
            <a:r>
              <a:rPr sz="1300">
                <a:solidFill>
                  <a:srgbClr val="0F172A"/>
                </a:solidFill>
                <a:latin typeface="Calibri"/>
              </a:rPr>
              <a:t>🖨 Print itinerary — clean PDF-ready layout for paper handouts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560" b="1">
                <a:solidFill>
                  <a:srgbClr val="F2A93E"/>
                </a:solidFill>
                <a:latin typeface="Calibri"/>
              </a:rPr>
              <a:t>• </a:t>
            </a:r>
            <a:r>
              <a:rPr sz="1300">
                <a:solidFill>
                  <a:srgbClr val="0F172A"/>
                </a:solidFill>
                <a:latin typeface="Calibri"/>
              </a:rPr>
              <a:t>15-min add → opt-in save → survives tab close + browser restart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560" b="1">
                <a:solidFill>
                  <a:srgbClr val="F2A93E"/>
                </a:solidFill>
                <a:latin typeface="Calibri"/>
              </a:rPr>
              <a:t>• </a:t>
            </a:r>
            <a:r>
              <a:rPr sz="1300">
                <a:solidFill>
                  <a:srgbClr val="0F172A"/>
                </a:solidFill>
                <a:latin typeface="Calibri"/>
              </a:rPr>
              <a:t>Share link via native phone share sheet, email, text, or copy URL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560" b="1">
                <a:solidFill>
                  <a:srgbClr val="F2A93E"/>
                </a:solidFill>
                <a:latin typeface="Calibri"/>
              </a:rPr>
              <a:t>• </a:t>
            </a:r>
            <a:r>
              <a:rPr sz="1300">
                <a:solidFill>
                  <a:srgbClr val="0F172A"/>
                </a:solidFill>
                <a:latin typeface="Calibri"/>
              </a:rPr>
              <a:t>No install, no account, no email — works in any browser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223760" y="1691640"/>
            <a:ext cx="4389120" cy="457200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06640" y="1828800"/>
            <a:ext cx="40233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0" i="1">
                <a:solidFill>
                  <a:srgbClr val="334155"/>
                </a:solidFill>
                <a:latin typeface="Calibri"/>
              </a:rPr>
              <a:t>2 stops · 2 days / 1 night</a:t>
            </a:r>
          </a:p>
        </p:txBody>
      </p:sp>
      <p:sp>
        <p:nvSpPr>
          <p:cNvPr id="8" name="Rectangle 7"/>
          <p:cNvSpPr/>
          <p:nvPr/>
        </p:nvSpPr>
        <p:spPr>
          <a:xfrm>
            <a:off x="7452360" y="2240280"/>
            <a:ext cx="3931920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F2A9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0" y="2331720"/>
            <a:ext cx="38404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1" i="0">
                <a:solidFill>
                  <a:srgbClr val="102444"/>
                </a:solidFill>
                <a:latin typeface="Calibri"/>
              </a:rPr>
              <a:t>DAY 1 of 2   Sat, Jun 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0" y="2697480"/>
            <a:ext cx="384048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💤 TONIGHT'S STAY
Holbrooke Hotel · Grass Valley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0" y="3383280"/>
            <a:ext cx="384048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1.  Empire Mine State Historic Park
2.  Lola Restaurant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52360" y="4206240"/>
            <a:ext cx="3931920" cy="1463040"/>
          </a:xfrm>
          <a:prstGeom prst="rect">
            <a:avLst/>
          </a:prstGeom>
          <a:solidFill>
            <a:srgbClr val="FFFFFF"/>
          </a:solidFill>
          <a:ln w="6350">
            <a:solidFill>
              <a:srgbClr val="F2A9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0" y="4297680"/>
            <a:ext cx="38404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1" i="0">
                <a:solidFill>
                  <a:srgbClr val="102444"/>
                </a:solidFill>
                <a:latin typeface="Calibri"/>
              </a:rPr>
              <a:t>DAY 2 of 2   Sun, Jun 15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9520" y="4617720"/>
            <a:ext cx="384048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1">
                <a:solidFill>
                  <a:srgbClr val="334155"/>
                </a:solidFill>
                <a:latin typeface="Calibri"/>
              </a:rPr>
              <a:t>💤  No lodging picked for tonight  →  [Find Lodging]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9520" y="5074920"/>
            <a:ext cx="384048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F2A93E"/>
                </a:solidFill>
                <a:latin typeface="Calibri"/>
              </a:rPr>
              <a:t>📅  Father's Day Bluegrass — Sat 7:00 PM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334155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170" b="0" i="0">
                <a:solidFill>
                  <a:srgbClr val="334155"/>
                </a:solidFill>
                <a:latin typeface="Calibri"/>
              </a:rPr>
              <a:t>5 / 14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6455664"/>
            <a:ext cx="11064240" cy="31750"/>
          </a:xfrm>
          <a:prstGeom prst="rect">
            <a:avLst/>
          </a:prstGeom>
          <a:solidFill>
            <a:srgbClr val="10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4160" b="1" i="0">
                <a:solidFill>
                  <a:srgbClr val="102444"/>
                </a:solidFill>
                <a:latin typeface="Calibri"/>
              </a:rPr>
              <a:t>Let me show you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31750"/>
          </a:xfrm>
          <a:prstGeom prst="rect">
            <a:avLst/>
          </a:prstGeom>
          <a:solidFill>
            <a:srgbClr val="10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20" b="0" i="1">
                <a:solidFill>
                  <a:srgbClr val="334155"/>
                </a:solidFill>
                <a:latin typeface="Calibri"/>
              </a:rPr>
              <a:t>A live demo: visitor planning a romantic November weekend in Western Nevada County.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91640"/>
            <a:ext cx="11064240" cy="384048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169164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1" i="0">
                <a:solidFill>
                  <a:srgbClr val="102444"/>
                </a:solidFill>
                <a:latin typeface="Calibri"/>
              </a:rPr>
              <a:t>Act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68880" y="1737360"/>
            <a:ext cx="909828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1" i="0">
                <a:solidFill>
                  <a:srgbClr val="102444"/>
                </a:solidFill>
                <a:latin typeface="Calibri"/>
              </a:rPr>
              <a:t>What happens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075688"/>
            <a:ext cx="11064240" cy="31750"/>
          </a:xfrm>
          <a:prstGeom prst="rect">
            <a:avLst/>
          </a:prstGeom>
          <a:solidFill>
            <a:srgbClr val="10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112264"/>
            <a:ext cx="11064240" cy="77724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157984"/>
            <a:ext cx="1691640" cy="7315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0" i="0">
                <a:solidFill>
                  <a:srgbClr val="0F172A"/>
                </a:solidFill>
                <a:latin typeface="Calibri"/>
              </a:rPr>
              <a:t>Act 1 · 2 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68880" y="2157984"/>
            <a:ext cx="9098280" cy="7315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0" i="0">
                <a:solidFill>
                  <a:srgbClr val="0F172A"/>
                </a:solidFill>
                <a:latin typeface="Calibri"/>
              </a:rPr>
              <a:t>Set the scene — couple from Sacramento, click "This Weekend" + Festivals vibe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935224"/>
            <a:ext cx="1691640" cy="7315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0" i="0">
                <a:solidFill>
                  <a:srgbClr val="0F172A"/>
                </a:solidFill>
                <a:latin typeface="Calibri"/>
              </a:rPr>
              <a:t>Act 2 · 90 sec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68880" y="2935224"/>
            <a:ext cx="9098280" cy="7315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0" i="0">
                <a:solidFill>
                  <a:srgbClr val="0F172A"/>
                </a:solidFill>
                <a:latin typeface="Calibri"/>
              </a:rPr>
              <a:t>Layer in Relaxed vibe + Lodging category + B&amp;B sub-pill — real Victorian B&amp;Bs surface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666744"/>
            <a:ext cx="11064240" cy="77724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712464"/>
            <a:ext cx="1691640" cy="7315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0" i="0">
                <a:solidFill>
                  <a:srgbClr val="0F172A"/>
                </a:solidFill>
                <a:latin typeface="Calibri"/>
              </a:rPr>
              <a:t>Act 3 · 2 min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8880" y="3712464"/>
            <a:ext cx="9098280" cy="7315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0" i="0">
                <a:solidFill>
                  <a:srgbClr val="0F172A"/>
                </a:solidFill>
                <a:latin typeface="Calibri"/>
              </a:rPr>
              <a:t>Build the weekend — Cornish Christmas + Holbrooke Hotel + Empire Mine + Lola Restaurant. Open My Itinerary — Smart Suggestions appear with "0.4 mi away" labels. Map view + Print + Share link.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489704"/>
            <a:ext cx="1691640" cy="7315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0" i="0">
                <a:solidFill>
                  <a:srgbClr val="0F172A"/>
                </a:solidFill>
                <a:latin typeface="Calibri"/>
              </a:rPr>
              <a:t>Act 4 · 90 sec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68880" y="4489704"/>
            <a:ext cx="9098280" cy="7315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0" i="0">
                <a:solidFill>
                  <a:srgbClr val="0F172A"/>
                </a:solidFill>
                <a:latin typeface="Calibri"/>
              </a:rPr>
              <a:t>Behind the scenes — admin Events Queue, Approve All, AI Categorize button, Event Sources tab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5221224"/>
            <a:ext cx="11064240" cy="77724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5266944"/>
            <a:ext cx="1691640" cy="7315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0" i="0">
                <a:solidFill>
                  <a:srgbClr val="0F172A"/>
                </a:solidFill>
                <a:latin typeface="Calibri"/>
              </a:rPr>
              <a:t>Act 5 · 60 sec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68880" y="5266944"/>
            <a:ext cx="9098280" cy="7315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0" i="0">
                <a:solidFill>
                  <a:srgbClr val="0F172A"/>
                </a:solidFill>
                <a:latin typeface="Calibri"/>
              </a:rPr>
              <a:t>Close the value props — time saved, local visibility, privacy, no vendor lock-in, AI integration, low maintenance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334155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170" b="0" i="0">
                <a:solidFill>
                  <a:srgbClr val="334155"/>
                </a:solidFill>
                <a:latin typeface="Calibri"/>
              </a:rPr>
              <a:t>6 / 14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6455664"/>
            <a:ext cx="11064240" cy="31750"/>
          </a:xfrm>
          <a:prstGeom prst="rect">
            <a:avLst/>
          </a:prstGeom>
          <a:solidFill>
            <a:srgbClr val="10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4160" b="1" i="0">
                <a:solidFill>
                  <a:srgbClr val="102444"/>
                </a:solidFill>
                <a:latin typeface="Calibri"/>
              </a:rPr>
              <a:t>Who this serves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31750"/>
          </a:xfrm>
          <a:prstGeom prst="rect">
            <a:avLst/>
          </a:prstGeom>
          <a:solidFill>
            <a:srgbClr val="10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20" b="0" i="1">
                <a:solidFill>
                  <a:srgbClr val="334155"/>
                </a:solidFill>
                <a:latin typeface="Calibri"/>
              </a:rPr>
              <a:t>Nine visitor personas — each searches differently and converts on different content.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11064240" cy="4297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40000"/>
              </a:lnSpc>
            </a:pPr>
            <a:r>
              <a:rPr sz="1820" b="1">
                <a:solidFill>
                  <a:srgbClr val="F2A93E"/>
                </a:solidFill>
                <a:latin typeface="Calibri"/>
              </a:rPr>
              <a:t>• </a:t>
            </a:r>
            <a:r>
              <a:rPr sz="1560">
                <a:solidFill>
                  <a:srgbClr val="0F172A"/>
                </a:solidFill>
                <a:latin typeface="Calibri"/>
              </a:rPr>
              <a:t>1. Romantic Weekender    —    Couples 35-65, Bay Area / Sac, B&amp;Bs + dining + wineries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820" b="1">
                <a:solidFill>
                  <a:srgbClr val="F2A93E"/>
                </a:solidFill>
                <a:latin typeface="Calibri"/>
              </a:rPr>
              <a:t>• </a:t>
            </a:r>
            <a:r>
              <a:rPr sz="1560">
                <a:solidFill>
                  <a:srgbClr val="0F172A"/>
                </a:solidFill>
                <a:latin typeface="Calibri"/>
              </a:rPr>
              <a:t>2. Festival Pilgrim    —    Anchored to a specific event — Cornish Christmas, Wild &amp; Scenic, Bluegrass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820" b="1">
                <a:solidFill>
                  <a:srgbClr val="F2A93E"/>
                </a:solidFill>
                <a:latin typeface="Calibri"/>
              </a:rPr>
              <a:t>• </a:t>
            </a:r>
            <a:r>
              <a:rPr sz="1560">
                <a:solidFill>
                  <a:srgbClr val="0F172A"/>
                </a:solidFill>
                <a:latin typeface="Calibri"/>
              </a:rPr>
              <a:t>3. Trail &amp; Lake Seeker    —    Hiking / biking / swimming / paddling — needs distance &amp; difficulty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820" b="1">
                <a:solidFill>
                  <a:srgbClr val="F2A93E"/>
                </a:solidFill>
                <a:latin typeface="Calibri"/>
              </a:rPr>
              <a:t>• </a:t>
            </a:r>
            <a:r>
              <a:rPr sz="1560">
                <a:solidFill>
                  <a:srgbClr val="0F172A"/>
                </a:solidFill>
                <a:latin typeface="Calibri"/>
              </a:rPr>
              <a:t>4. Multi-Gen Family    —    Parents with kids 5-15 — "will my 8-year-old be bored?"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820" b="1">
                <a:solidFill>
                  <a:srgbClr val="F2A93E"/>
                </a:solidFill>
                <a:latin typeface="Calibri"/>
              </a:rPr>
              <a:t>• </a:t>
            </a:r>
            <a:r>
              <a:rPr sz="1560">
                <a:solidFill>
                  <a:srgbClr val="0F172A"/>
                </a:solidFill>
                <a:latin typeface="Calibri"/>
              </a:rPr>
              <a:t>5. Arts &amp; Heritage Traveler    —    Substance over photos; reads notes; values authenticity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820" b="1">
                <a:solidFill>
                  <a:srgbClr val="F2A93E"/>
                </a:solidFill>
                <a:latin typeface="Calibri"/>
              </a:rPr>
              <a:t>• </a:t>
            </a:r>
            <a:r>
              <a:rPr sz="1560">
                <a:solidFill>
                  <a:srgbClr val="0F172A"/>
                </a:solidFill>
                <a:latin typeface="Calibri"/>
              </a:rPr>
              <a:t>6. Wine Country Foodie    —    Napa-alternative — provenance, chef bios, tasting flights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820" b="1">
                <a:solidFill>
                  <a:srgbClr val="F2A93E"/>
                </a:solidFill>
                <a:latin typeface="Calibri"/>
              </a:rPr>
              <a:t>• </a:t>
            </a:r>
            <a:r>
              <a:rPr sz="1560">
                <a:solidFill>
                  <a:srgbClr val="0F172A"/>
                </a:solidFill>
                <a:latin typeface="Calibri"/>
              </a:rPr>
              <a:t>7. Wellness Refugee    —    Float, massage, yoga, gardens — filtering for what's NOT there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820" b="1">
                <a:solidFill>
                  <a:srgbClr val="F2A93E"/>
                </a:solidFill>
                <a:latin typeface="Calibri"/>
              </a:rPr>
              <a:t>• </a:t>
            </a:r>
            <a:r>
              <a:rPr sz="1560">
                <a:solidFill>
                  <a:srgbClr val="0F172A"/>
                </a:solidFill>
                <a:latin typeface="Calibri"/>
              </a:rPr>
              <a:t>8. Local "What's Up"    —    Residents — pure events feed, "what's on this weekend"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820" b="1">
                <a:solidFill>
                  <a:srgbClr val="F2A93E"/>
                </a:solidFill>
                <a:latin typeface="Calibri"/>
              </a:rPr>
              <a:t>• </a:t>
            </a:r>
            <a:r>
              <a:rPr sz="1560">
                <a:solidFill>
                  <a:srgbClr val="0F172A"/>
                </a:solidFill>
                <a:latin typeface="Calibri"/>
              </a:rPr>
              <a:t>9. Maker Traveler    —    Travels for the workshop — a destination-class workshop venue can anchor a regional identity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486400"/>
            <a:ext cx="11064240" cy="777240"/>
          </a:xfrm>
          <a:prstGeom prst="rect">
            <a:avLst/>
          </a:prstGeom>
          <a:solidFill>
            <a:srgbClr val="F1F5F9"/>
          </a:solidFill>
          <a:ln w="6350">
            <a:solidFill>
              <a:srgbClr val="F2A9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5532120"/>
            <a:ext cx="10881360" cy="6858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560" b="1" i="0">
                <a:solidFill>
                  <a:srgbClr val="102444"/>
                </a:solidFill>
                <a:latin typeface="Calibri"/>
              </a:rPr>
              <a:t>Recommended marketing focus (over-serve four):  Festival Pilgrim  ·  Romantic Weekender  ·  Foodie  ·  Maker Traveler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334155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170" b="0" i="0">
                <a:solidFill>
                  <a:srgbClr val="334155"/>
                </a:solidFill>
                <a:latin typeface="Calibri"/>
              </a:rPr>
              <a:t>7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455664"/>
            <a:ext cx="11064240" cy="31750"/>
          </a:xfrm>
          <a:prstGeom prst="rect">
            <a:avLst/>
          </a:prstGeom>
          <a:solidFill>
            <a:srgbClr val="10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4160" b="1" i="0">
                <a:solidFill>
                  <a:srgbClr val="102444"/>
                </a:solidFill>
                <a:latin typeface="Calibri"/>
              </a:rPr>
              <a:t>Why it's easy to use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31750"/>
          </a:xfrm>
          <a:prstGeom prst="rect">
            <a:avLst/>
          </a:prstGeom>
          <a:solidFill>
            <a:srgbClr val="10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20" b="0" i="1">
                <a:solidFill>
                  <a:srgbClr val="334155"/>
                </a:solidFill>
                <a:latin typeface="Calibri"/>
              </a:rPr>
              <a:t>Friction points where most tourism sites lose visitors — and what we did instead.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08760"/>
            <a:ext cx="11064240" cy="384048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352044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1" i="0">
                <a:solidFill>
                  <a:srgbClr val="102444"/>
                </a:solidFill>
                <a:latin typeface="Calibri"/>
              </a:rPr>
              <a:t>Decision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554480"/>
            <a:ext cx="7269479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1" i="0">
                <a:solidFill>
                  <a:srgbClr val="102444"/>
                </a:solidFill>
                <a:latin typeface="Calibri"/>
              </a:rPr>
              <a:t>Why it matters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892808"/>
            <a:ext cx="11064240" cy="31750"/>
          </a:xfrm>
          <a:prstGeom prst="rect">
            <a:avLst/>
          </a:prstGeom>
          <a:solidFill>
            <a:srgbClr val="10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929384"/>
            <a:ext cx="11064240" cy="54864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975104"/>
            <a:ext cx="3520440" cy="5029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0F172A"/>
                </a:solidFill>
                <a:latin typeface="Calibri"/>
              </a:rPr>
              <a:t>Day-by-day with lodging anchor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1975104"/>
            <a:ext cx="7269479" cy="5029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0F172A"/>
                </a:solidFill>
                <a:latin typeface="Calibri"/>
              </a:rPr>
              <a:t>A flat list of stops hides the night question; structured days surface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523744"/>
            <a:ext cx="3520440" cy="5029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0F172A"/>
                </a:solidFill>
                <a:latin typeface="Calibri"/>
              </a:rPr>
              <a:t>"Find Lodging" CTA + auto-clear vibes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0" y="2523744"/>
            <a:ext cx="7269479" cy="5029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0F172A"/>
                </a:solidFill>
                <a:latin typeface="Calibri"/>
              </a:rPr>
              <a:t>One-click jump to lodging that doesn't fight against active vibes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026664"/>
            <a:ext cx="11064240" cy="54864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072384"/>
            <a:ext cx="3520440" cy="5029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0F172A"/>
                </a:solidFill>
                <a:latin typeface="Calibri"/>
              </a:rPr>
              <a:t>Add Day returns to browse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3072384"/>
            <a:ext cx="7269479" cy="5029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0F172A"/>
                </a:solidFill>
                <a:latin typeface="Calibri"/>
              </a:rPr>
              <a:t>No leaving visitor staring at empty days; flow continues naturally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621024"/>
            <a:ext cx="3520440" cy="5029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0F172A"/>
                </a:solidFill>
                <a:latin typeface="Calibri"/>
              </a:rPr>
              <a:t>Events → itinerary first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0" y="3621024"/>
            <a:ext cx="7269479" cy="5029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0F172A"/>
                </a:solidFill>
                <a:latin typeface="Calibri"/>
              </a:rPr>
              <a:t>No hijack to KVMR — visitor compares before clicking through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4123944"/>
            <a:ext cx="11064240" cy="54864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4169664"/>
            <a:ext cx="3520440" cy="5029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0F172A"/>
                </a:solidFill>
                <a:latin typeface="Calibri"/>
              </a:rPr>
              <a:t>Vibe sub-pills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97680" y="4169664"/>
            <a:ext cx="7269479" cy="5029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0F172A"/>
                </a:solidFill>
                <a:latin typeface="Calibri"/>
              </a:rPr>
              <a:t>Foodie → Restaurants/Markets/Wineries — granular without leaving the vibe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4718304"/>
            <a:ext cx="3520440" cy="5029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0F172A"/>
                </a:solidFill>
                <a:latin typeface="Calibri"/>
              </a:rPr>
              <a:t>Calendar dates on day headers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0" y="4718304"/>
            <a:ext cx="7269479" cy="5029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0F172A"/>
                </a:solidFill>
                <a:latin typeface="Calibri"/>
              </a:rPr>
              <a:t>"DAY 1 · Sat, May 17" instead of abstract numbers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5221224"/>
            <a:ext cx="11064240" cy="54864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5266944"/>
            <a:ext cx="3520440" cy="5029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0F172A"/>
                </a:solidFill>
                <a:latin typeface="Calibri"/>
              </a:rPr>
              <a:t>Opt-in itinerary save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97680" y="5266944"/>
            <a:ext cx="7269479" cy="5029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0F172A"/>
                </a:solidFill>
                <a:latin typeface="Calibri"/>
              </a:rPr>
              <a:t>Survives tab close + restart — no account, no email, explicit consent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5815584"/>
            <a:ext cx="3520440" cy="5029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0F172A"/>
                </a:solidFill>
                <a:latin typeface="Calibri"/>
              </a:rPr>
              <a:t>Auto-season filtering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80" y="5815584"/>
            <a:ext cx="7269479" cy="5029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0F172A"/>
                </a:solidFill>
                <a:latin typeface="Calibri"/>
              </a:rPr>
              <a:t>November visit hides summer-only experiences automatically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334155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170" b="0" i="0">
                <a:solidFill>
                  <a:srgbClr val="334155"/>
                </a:solidFill>
                <a:latin typeface="Calibri"/>
              </a:rPr>
              <a:t>8 / 14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" y="6455664"/>
            <a:ext cx="11064240" cy="31750"/>
          </a:xfrm>
          <a:prstGeom prst="rect">
            <a:avLst/>
          </a:prstGeom>
          <a:solidFill>
            <a:srgbClr val="10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4160" b="1" i="0">
                <a:solidFill>
                  <a:srgbClr val="102444"/>
                </a:solidFill>
                <a:latin typeface="Calibri"/>
              </a:rPr>
              <a:t>Privacy posture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31750"/>
          </a:xfrm>
          <a:prstGeom prst="rect">
            <a:avLst/>
          </a:prstGeom>
          <a:solidFill>
            <a:srgbClr val="10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20" b="0" i="1">
                <a:solidFill>
                  <a:srgbClr val="334155"/>
                </a:solidFill>
                <a:latin typeface="Calibri"/>
              </a:rPr>
              <a:t>No tracking. No cookies. Visitors stay anonymous; the chamber gets credit for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1064240" cy="4297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8000"/>
              </a:lnSpc>
            </a:pPr>
            <a:r>
              <a:rPr sz="1690" b="1">
                <a:solidFill>
                  <a:srgbClr val="F2A93E"/>
                </a:solidFill>
                <a:latin typeface="Calibri"/>
              </a:rPr>
              <a:t>• </a:t>
            </a:r>
            <a:r>
              <a:rPr sz="1430">
                <a:solidFill>
                  <a:srgbClr val="0F172A"/>
                </a:solidFill>
                <a:latin typeface="Calibri"/>
              </a:rPr>
              <a:t>No analytics, no cookies, no third-party trackers by default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690" b="1">
                <a:solidFill>
                  <a:srgbClr val="F2A93E"/>
                </a:solidFill>
                <a:latin typeface="Calibri"/>
              </a:rPr>
              <a:t>• </a:t>
            </a:r>
            <a:r>
              <a:rPr sz="1430">
                <a:solidFill>
                  <a:srgbClr val="0F172A"/>
                </a:solidFill>
                <a:latin typeface="Calibri"/>
              </a:rPr>
              <a:t>Itinerary save is opt-in only — explicit consent banner on first add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690" b="1">
                <a:solidFill>
                  <a:srgbClr val="F2A93E"/>
                </a:solidFill>
                <a:latin typeface="Calibri"/>
              </a:rPr>
              <a:t>• </a:t>
            </a:r>
            <a:r>
              <a:rPr sz="1430">
                <a:solidFill>
                  <a:srgbClr val="0F172A"/>
                </a:solidFill>
                <a:latin typeface="Calibri"/>
              </a:rPr>
              <a:t>"Forget on this device" link revokes consent and wipes saved data anytime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690" b="1">
                <a:solidFill>
                  <a:srgbClr val="F2A93E"/>
                </a:solidFill>
                <a:latin typeface="Calibri"/>
              </a:rPr>
              <a:t>• </a:t>
            </a:r>
            <a:r>
              <a:rPr sz="1430">
                <a:solidFill>
                  <a:srgbClr val="0F172A"/>
                </a:solidFill>
                <a:latin typeface="Calibri"/>
              </a:rPr>
              <a:t>Share-link URL works without any consent — purely a URL fragment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690" b="1">
                <a:solidFill>
                  <a:srgbClr val="F2A93E"/>
                </a:solidFill>
                <a:latin typeface="Calibri"/>
              </a:rPr>
              <a:t>• </a:t>
            </a:r>
            <a:r>
              <a:rPr sz="1430">
                <a:solidFill>
                  <a:srgbClr val="0F172A"/>
                </a:solidFill>
                <a:latin typeface="Calibri"/>
              </a:rPr>
              <a:t>No account / sign-up / email required to plan a full trip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690" b="1">
                <a:solidFill>
                  <a:srgbClr val="F2A93E"/>
                </a:solidFill>
                <a:latin typeface="Calibri"/>
              </a:rPr>
              <a:t>• </a:t>
            </a:r>
            <a:r>
              <a:rPr sz="1430">
                <a:solidFill>
                  <a:srgbClr val="0F172A"/>
                </a:solidFill>
                <a:latin typeface="Calibri"/>
              </a:rPr>
              <a:t>Chamber sees zero personal information about visitors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690" b="1">
                <a:solidFill>
                  <a:srgbClr val="F2A93E"/>
                </a:solidFill>
                <a:latin typeface="Calibri"/>
              </a:rPr>
              <a:t>• </a:t>
            </a:r>
            <a:r>
              <a:rPr sz="1430">
                <a:solidFill>
                  <a:srgbClr val="0F172A"/>
                </a:solidFill>
                <a:latin typeface="Calibri"/>
              </a:rPr>
              <a:t>No GDPR / CCPA banners required (because nothing is collected)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690" b="1">
                <a:solidFill>
                  <a:srgbClr val="F2A93E"/>
                </a:solidFill>
                <a:latin typeface="Calibri"/>
              </a:rPr>
              <a:t>• </a:t>
            </a:r>
            <a:r>
              <a:rPr sz="1430">
                <a:solidFill>
                  <a:srgbClr val="0F172A"/>
                </a:solidFill>
                <a:latin typeface="Calibri"/>
              </a:rPr>
              <a:t>No privacy review, no consent-platform fees, no compliance overhead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690" b="1">
                <a:solidFill>
                  <a:srgbClr val="F2A93E"/>
                </a:solidFill>
                <a:latin typeface="Calibri"/>
              </a:rPr>
              <a:t>• </a:t>
            </a:r>
            <a:r>
              <a:rPr sz="1430">
                <a:solidFill>
                  <a:srgbClr val="0F172A"/>
                </a:solidFill>
                <a:latin typeface="Calibri"/>
              </a:rPr>
              <a:t>Opt-in measurement available if needed (Plausible — no cookies, no PII)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486400"/>
            <a:ext cx="11064240" cy="777240"/>
          </a:xfrm>
          <a:prstGeom prst="rect">
            <a:avLst/>
          </a:prstGeom>
          <a:solidFill>
            <a:srgbClr val="F1F5F9"/>
          </a:solidFill>
          <a:ln w="6350">
            <a:solidFill>
              <a:srgbClr val="F2A9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5532120"/>
            <a:ext cx="10881360" cy="6858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820" b="0" i="1">
                <a:solidFill>
                  <a:srgbClr val="102444"/>
                </a:solidFill>
                <a:latin typeface="Calibri"/>
              </a:rPr>
              <a:t>"Visitors stay anonymous; the chamber gets credit for respecting them."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334155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170" b="0" i="0">
                <a:solidFill>
                  <a:srgbClr val="334155"/>
                </a:solidFill>
                <a:latin typeface="Calibri"/>
              </a:rPr>
              <a:t>9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455664"/>
            <a:ext cx="11064240" cy="31750"/>
          </a:xfrm>
          <a:prstGeom prst="rect">
            <a:avLst/>
          </a:prstGeom>
          <a:solidFill>
            <a:srgbClr val="10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4160" b="1" i="0">
                <a:solidFill>
                  <a:srgbClr val="102444"/>
                </a:solidFill>
                <a:latin typeface="Calibri"/>
              </a:rPr>
              <a:t>Behind the scenes — low-admin operations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31750"/>
          </a:xfrm>
          <a:prstGeom prst="rect">
            <a:avLst/>
          </a:prstGeom>
          <a:solidFill>
            <a:srgbClr val="10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20" b="0" i="1">
                <a:solidFill>
                  <a:srgbClr val="334155"/>
                </a:solidFill>
                <a:latin typeface="Calibri"/>
              </a:rPr>
              <a:t>~30 minutes per week of chamber-staff time keeps the site live and current.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11064240" cy="4846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35000"/>
              </a:lnSpc>
            </a:pPr>
            <a:r>
              <a:rPr sz="2080" b="1">
                <a:solidFill>
                  <a:srgbClr val="F2A93E"/>
                </a:solidFill>
                <a:latin typeface="Calibri"/>
              </a:rPr>
              <a:t>• </a:t>
            </a:r>
            <a:r>
              <a:rPr sz="1820">
                <a:solidFill>
                  <a:srgbClr val="0F172A"/>
                </a:solidFill>
                <a:latin typeface="Calibri"/>
              </a:rPr>
              <a:t>One-click event-source updates from KVMR, Eventbrite, NC Chamber, GV Chamber, Go Nevada, The Union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2080" b="1">
                <a:solidFill>
                  <a:srgbClr val="F2A93E"/>
                </a:solidFill>
                <a:latin typeface="Calibri"/>
              </a:rPr>
              <a:t>• </a:t>
            </a:r>
            <a:r>
              <a:rPr sz="1820">
                <a:solidFill>
                  <a:srgbClr val="0F172A"/>
                </a:solidFill>
                <a:latin typeface="Calibri"/>
              </a:rPr>
              <a:t>Approve / dismiss events in a queue; bulk-approve is one click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2080" b="1">
                <a:solidFill>
                  <a:srgbClr val="F2A93E"/>
                </a:solidFill>
                <a:latin typeface="Calibri"/>
              </a:rPr>
              <a:t>• </a:t>
            </a:r>
            <a:r>
              <a:rPr sz="1820">
                <a:solidFill>
                  <a:srgbClr val="0F172A"/>
                </a:solidFill>
                <a:latin typeface="Calibri"/>
              </a:rPr>
              <a:t>AI Categorize button (Claude Haiku) — refines area, venue, tags, quality (~$0.20 per full run)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2080" b="1">
                <a:solidFill>
                  <a:srgbClr val="F2A93E"/>
                </a:solidFill>
                <a:latin typeface="Calibri"/>
              </a:rPr>
              <a:t>• </a:t>
            </a:r>
            <a:r>
              <a:rPr sz="1820">
                <a:solidFill>
                  <a:srgbClr val="0F172A"/>
                </a:solidFill>
                <a:latin typeface="Calibri"/>
              </a:rPr>
              <a:t>Publish and edit chamber-curated experiences via the public planner — no separate admin tool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2080" b="1">
                <a:solidFill>
                  <a:srgbClr val="F2A93E"/>
                </a:solidFill>
                <a:latin typeface="Calibri"/>
              </a:rPr>
              <a:t>• </a:t>
            </a:r>
            <a:r>
              <a:rPr sz="1820">
                <a:solidFill>
                  <a:srgbClr val="0F172A"/>
                </a:solidFill>
                <a:latin typeface="Calibri"/>
              </a:rPr>
              <a:t>Inline-editable experience table — anyone who can edit a spreadsheet can maintain it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2080" b="1">
                <a:solidFill>
                  <a:srgbClr val="F2A93E"/>
                </a:solidFill>
                <a:latin typeface="Calibri"/>
              </a:rPr>
              <a:t>• </a:t>
            </a:r>
            <a:r>
              <a:rPr sz="1820">
                <a:solidFill>
                  <a:srgbClr val="0F172A"/>
                </a:solidFill>
                <a:latin typeface="Calibri"/>
              </a:rPr>
              <a:t>Tag taxonomy editor — add, rename, delete tags without code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2080" b="1">
                <a:solidFill>
                  <a:srgbClr val="F2A93E"/>
                </a:solidFill>
                <a:latin typeface="Calibri"/>
              </a:rPr>
              <a:t>• </a:t>
            </a:r>
            <a:r>
              <a:rPr sz="1820">
                <a:solidFill>
                  <a:srgbClr val="0F172A"/>
                </a:solidFill>
                <a:latin typeface="Calibri"/>
              </a:rPr>
              <a:t>Event-source URL management — add a new source by pasting a URL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2080" b="1">
                <a:solidFill>
                  <a:srgbClr val="F2A93E"/>
                </a:solidFill>
                <a:latin typeface="Calibri"/>
              </a:rPr>
              <a:t>• </a:t>
            </a:r>
            <a:r>
              <a:rPr sz="1820">
                <a:solidFill>
                  <a:srgbClr val="0F172A"/>
                </a:solidFill>
                <a:latin typeface="Calibri"/>
              </a:rPr>
              <a:t>Pruning past events on every scrape, plus a manual button between scrapes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2080" b="1">
                <a:solidFill>
                  <a:srgbClr val="F2A93E"/>
                </a:solidFill>
                <a:latin typeface="Calibri"/>
              </a:rPr>
              <a:t>• </a:t>
            </a:r>
            <a:r>
              <a:rPr sz="1820">
                <a:solidFill>
                  <a:srgbClr val="0F172A"/>
                </a:solidFill>
                <a:latin typeface="Calibri"/>
              </a:rPr>
              <a:t>Public RSS feed at /feed.rss — partners republish without integration work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2080" b="1">
                <a:solidFill>
                  <a:srgbClr val="F2A93E"/>
                </a:solidFill>
                <a:latin typeface="Calibri"/>
              </a:rPr>
              <a:t>• </a:t>
            </a:r>
            <a:r>
              <a:rPr sz="1820">
                <a:solidFill>
                  <a:srgbClr val="0F172A"/>
                </a:solidFill>
                <a:latin typeface="Calibri"/>
              </a:rPr>
              <a:t>Public "Suggest a venue or event" form — submissions queue for chamber review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334155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170" b="0" i="0">
                <a:solidFill>
                  <a:srgbClr val="334155"/>
                </a:solidFill>
                <a:latin typeface="Calibri"/>
              </a:rPr>
              <a:t>10 / 14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55664"/>
            <a:ext cx="11064240" cy="31750"/>
          </a:xfrm>
          <a:prstGeom prst="rect">
            <a:avLst/>
          </a:prstGeom>
          <a:solidFill>
            <a:srgbClr val="10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4160" b="1" i="0">
                <a:solidFill>
                  <a:srgbClr val="102444"/>
                </a:solidFill>
                <a:latin typeface="Calibri"/>
              </a:rPr>
              <a:t>AI-powered tag refinement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31750"/>
          </a:xfrm>
          <a:prstGeom prst="rect">
            <a:avLst/>
          </a:prstGeom>
          <a:solidFill>
            <a:srgbClr val="10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20" b="0" i="1">
                <a:solidFill>
                  <a:srgbClr val="334155"/>
                </a:solidFill>
                <a:latin typeface="Calibri"/>
              </a:rPr>
              <a:t>Claude Haiku adds intelligence where keyword rules stop short — at trivial cost.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548640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20" b="1" i="0">
                <a:solidFill>
                  <a:srgbClr val="F2A93E"/>
                </a:solidFill>
                <a:latin typeface="Calibri"/>
              </a:rPr>
              <a:t>What it fixes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03120"/>
            <a:ext cx="5486400" cy="3840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560" b="1">
                <a:solidFill>
                  <a:srgbClr val="F2A93E"/>
                </a:solidFill>
                <a:latin typeface="Calibri"/>
              </a:rPr>
              <a:t>• </a:t>
            </a:r>
            <a:r>
              <a:rPr sz="1300">
                <a:solidFill>
                  <a:srgbClr val="0F172A"/>
                </a:solidFill>
                <a:latin typeface="Calibri"/>
              </a:rPr>
              <a:t>444 of 460 KVMR events tagged "Nevada County" → infers actual community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560" b="1">
                <a:solidFill>
                  <a:srgbClr val="F2A93E"/>
                </a:solidFill>
                <a:latin typeface="Calibri"/>
              </a:rPr>
              <a:t>• </a:t>
            </a:r>
            <a:r>
              <a:rPr sz="1300">
                <a:solidFill>
                  <a:srgbClr val="0F172A"/>
                </a:solidFill>
                <a:latin typeface="Calibri"/>
              </a:rPr>
              <a:t>Empty location field on most KVMR events → extracts venue name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560" b="1">
                <a:solidFill>
                  <a:srgbClr val="F2A93E"/>
                </a:solidFill>
                <a:latin typeface="Calibri"/>
              </a:rPr>
              <a:t>• </a:t>
            </a:r>
            <a:r>
              <a:rPr sz="1300">
                <a:solidFill>
                  <a:srgbClr val="0F172A"/>
                </a:solidFill>
                <a:latin typeface="Calibri"/>
              </a:rPr>
              <a:t>"Center for the Arts" → Grass Valley; "Miners Foundry" → Nevada City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560" b="1">
                <a:solidFill>
                  <a:srgbClr val="F2A93E"/>
                </a:solidFill>
                <a:latin typeface="Calibri"/>
              </a:rPr>
              <a:t>• </a:t>
            </a:r>
            <a:r>
              <a:rPr sz="1300">
                <a:solidFill>
                  <a:srgbClr val="0F172A"/>
                </a:solidFill>
                <a:latin typeface="Calibri"/>
              </a:rPr>
              <a:t>Cluttered descriptions → clean one-line summaries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560" b="1">
                <a:solidFill>
                  <a:srgbClr val="F2A93E"/>
                </a:solidFill>
                <a:latin typeface="Calibri"/>
              </a:rPr>
              <a:t>• </a:t>
            </a:r>
            <a:r>
              <a:rPr sz="1300">
                <a:solidFill>
                  <a:srgbClr val="0F172A"/>
                </a:solidFill>
                <a:latin typeface="Calibri"/>
              </a:rPr>
              <a:t>Truckee / Sierra-side events flagged "low quality" → auto-hidden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560" b="1">
                <a:solidFill>
                  <a:srgbClr val="F2A93E"/>
                </a:solidFill>
                <a:latin typeface="Calibri"/>
              </a:rPr>
              <a:t>• </a:t>
            </a:r>
            <a:r>
              <a:rPr sz="1300">
                <a:solidFill>
                  <a:srgbClr val="0F172A"/>
                </a:solidFill>
                <a:latin typeface="Calibri"/>
              </a:rPr>
              <a:t>Future source refreshes auto-categorize new events with the same logic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1691640"/>
            <a:ext cx="502920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20" b="1" i="0">
                <a:solidFill>
                  <a:srgbClr val="F2A93E"/>
                </a:solidFill>
                <a:latin typeface="Calibri"/>
              </a:rPr>
              <a:t>Cost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103120"/>
            <a:ext cx="4937760" cy="384048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148840"/>
            <a:ext cx="260604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1" i="0">
                <a:solidFill>
                  <a:srgbClr val="102444"/>
                </a:solidFill>
                <a:latin typeface="Calibri"/>
              </a:rPr>
              <a:t>Run pattern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2148840"/>
            <a:ext cx="205740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1" i="0">
                <a:solidFill>
                  <a:srgbClr val="102444"/>
                </a:solidFill>
                <a:latin typeface="Calibri"/>
              </a:rPr>
              <a:t>Monthly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487168"/>
            <a:ext cx="4937760" cy="31750"/>
          </a:xfrm>
          <a:prstGeom prst="rect">
            <a:avLst/>
          </a:prstGeom>
          <a:solidFill>
            <a:srgbClr val="10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2523744"/>
            <a:ext cx="4937760" cy="41148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569464"/>
            <a:ext cx="26060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First-time bulk (460 events)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2569464"/>
            <a:ext cx="2057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~$0.30 once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2980944"/>
            <a:ext cx="26060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Daily refresh + categorize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2980944"/>
            <a:ext cx="2057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$0.30 – $0.60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346704"/>
            <a:ext cx="4937760" cy="41148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392424"/>
            <a:ext cx="26060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Weekly refresh + categorize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83280" y="3392424"/>
            <a:ext cx="2057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$0.16 – $0.52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3803904"/>
            <a:ext cx="26060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Realistic chamber operation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83280" y="3803904"/>
            <a:ext cx="2057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~$0.50 – $1.00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5943600"/>
            <a:ext cx="11064240" cy="457200"/>
          </a:xfrm>
          <a:prstGeom prst="rect">
            <a:avLst/>
          </a:prstGeom>
          <a:solidFill>
            <a:srgbClr val="F1F5F9"/>
          </a:solidFill>
          <a:ln w="6350">
            <a:solidFill>
              <a:srgbClr val="F2A9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5989320"/>
            <a:ext cx="1088136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430" b="0" i="1">
                <a:solidFill>
                  <a:srgbClr val="102444"/>
                </a:solidFill>
                <a:latin typeface="Calibri"/>
              </a:rPr>
              <a:t>Hard $5/month spending cap settable in Anthropic console — cannot be exceeded.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334155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170" b="0" i="0">
                <a:solidFill>
                  <a:srgbClr val="334155"/>
                </a:solidFill>
                <a:latin typeface="Calibri"/>
              </a:rPr>
              <a:t>11 / 14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6455664"/>
            <a:ext cx="11064240" cy="31750"/>
          </a:xfrm>
          <a:prstGeom prst="rect">
            <a:avLst/>
          </a:prstGeom>
          <a:solidFill>
            <a:srgbClr val="10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4160" b="1" i="0">
                <a:solidFill>
                  <a:srgbClr val="102444"/>
                </a:solidFill>
                <a:latin typeface="Calibri"/>
              </a:rPr>
              <a:t>What it costs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31750"/>
          </a:xfrm>
          <a:prstGeom prst="rect">
            <a:avLst/>
          </a:prstGeom>
          <a:solidFill>
            <a:srgbClr val="10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20" b="0" i="1">
                <a:solidFill>
                  <a:srgbClr val="334155"/>
                </a:solidFill>
                <a:latin typeface="Calibri"/>
              </a:rPr>
              <a:t>Three operating scenarios for the first year of operation.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91640"/>
            <a:ext cx="2606040" cy="155448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874520"/>
            <a:ext cx="260604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5720" b="1" i="0">
                <a:solidFill>
                  <a:srgbClr val="F2A93E"/>
                </a:solidFill>
                <a:latin typeface="Calibri"/>
              </a:rPr>
              <a:t>$0–$50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651760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430" b="0" i="0">
                <a:solidFill>
                  <a:srgbClr val="334155"/>
                </a:solidFill>
                <a:latin typeface="Calibri"/>
              </a:rPr>
              <a:t>LEAN
Free hosting + AI off</a:t>
            </a:r>
          </a:p>
        </p:txBody>
      </p:sp>
      <p:sp>
        <p:nvSpPr>
          <p:cNvPr id="8" name="Rectangle 7"/>
          <p:cNvSpPr/>
          <p:nvPr/>
        </p:nvSpPr>
        <p:spPr>
          <a:xfrm>
            <a:off x="3337560" y="1691640"/>
            <a:ext cx="2606040" cy="155448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37560" y="1874520"/>
            <a:ext cx="260604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5720" b="1" i="0">
                <a:solidFill>
                  <a:srgbClr val="F2A93E"/>
                </a:solidFill>
                <a:latin typeface="Calibri"/>
              </a:rPr>
              <a:t>$80–$150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37560" y="2651760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430" b="0" i="0">
                <a:solidFill>
                  <a:srgbClr val="334155"/>
                </a:solidFill>
                <a:latin typeface="Calibri"/>
              </a:rPr>
              <a:t>TYPICAL
$5/mo VPS + weekly AI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26480" y="1691640"/>
            <a:ext cx="2606040" cy="155448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0" y="1874520"/>
            <a:ext cx="260604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5720" b="1" i="0">
                <a:solidFill>
                  <a:srgbClr val="F2A93E"/>
                </a:solidFill>
                <a:latin typeface="Calibri"/>
              </a:rPr>
              <a:t>$300–$500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651760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430" b="0" i="0">
                <a:solidFill>
                  <a:srgbClr val="334155"/>
                </a:solidFill>
                <a:latin typeface="Calibri"/>
              </a:rPr>
              <a:t>PREMIUM
Managed + daily AI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15400" y="1691640"/>
            <a:ext cx="2606040" cy="155448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15400" y="1874520"/>
            <a:ext cx="260604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5720" b="1" i="0">
                <a:solidFill>
                  <a:srgbClr val="F2A93E"/>
                </a:solidFill>
                <a:latin typeface="Calibri"/>
              </a:rPr>
              <a:t>$5K–$30K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15400" y="2651760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430" b="0" i="0">
                <a:solidFill>
                  <a:srgbClr val="334155"/>
                </a:solidFill>
                <a:latin typeface="Calibri"/>
              </a:rPr>
              <a:t>COMMERCIAL ALT.
CrowdRiff / Simpleview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520440"/>
            <a:ext cx="548640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20" b="1" i="0">
                <a:solidFill>
                  <a:srgbClr val="F2A93E"/>
                </a:solidFill>
                <a:latin typeface="Calibri"/>
              </a:rPr>
              <a:t>What's NOT a cost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931920"/>
            <a:ext cx="11064240" cy="23774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40000"/>
              </a:lnSpc>
            </a:pPr>
            <a:r>
              <a:rPr sz="1820" b="1">
                <a:solidFill>
                  <a:srgbClr val="F2A93E"/>
                </a:solidFill>
                <a:latin typeface="Calibri"/>
              </a:rPr>
              <a:t>• </a:t>
            </a:r>
            <a:r>
              <a:rPr sz="1560">
                <a:solidFill>
                  <a:srgbClr val="0F172A"/>
                </a:solidFill>
                <a:latin typeface="Calibri"/>
              </a:rPr>
              <a:t>Per-listing fees — every chamber member free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820" b="1">
                <a:solidFill>
                  <a:srgbClr val="F2A93E"/>
                </a:solidFill>
                <a:latin typeface="Calibri"/>
              </a:rPr>
              <a:t>• </a:t>
            </a:r>
            <a:r>
              <a:rPr sz="1560">
                <a:solidFill>
                  <a:srgbClr val="0F172A"/>
                </a:solidFill>
                <a:latin typeface="Calibri"/>
              </a:rPr>
              <a:t>Per-event fees — event sources cost zero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820" b="1">
                <a:solidFill>
                  <a:srgbClr val="F2A93E"/>
                </a:solidFill>
                <a:latin typeface="Calibri"/>
              </a:rPr>
              <a:t>• </a:t>
            </a:r>
            <a:r>
              <a:rPr sz="1560">
                <a:solidFill>
                  <a:srgbClr val="0F172A"/>
                </a:solidFill>
                <a:latin typeface="Calibri"/>
              </a:rPr>
              <a:t>Per-visitor fees — traffic 10× has no impact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820" b="1">
                <a:solidFill>
                  <a:srgbClr val="F2A93E"/>
                </a:solidFill>
                <a:latin typeface="Calibri"/>
              </a:rPr>
              <a:t>• </a:t>
            </a:r>
            <a:r>
              <a:rPr sz="1560">
                <a:solidFill>
                  <a:srgbClr val="0F172A"/>
                </a:solidFill>
                <a:latin typeface="Calibri"/>
              </a:rPr>
              <a:t>Vendor termination fees — owned outright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820" b="1">
                <a:solidFill>
                  <a:srgbClr val="F2A93E"/>
                </a:solidFill>
                <a:latin typeface="Calibri"/>
              </a:rPr>
              <a:t>• </a:t>
            </a:r>
            <a:r>
              <a:rPr sz="1560">
                <a:solidFill>
                  <a:srgbClr val="0F172A"/>
                </a:solidFill>
                <a:latin typeface="Calibri"/>
              </a:rPr>
              <a:t>Privacy compliance overhead — nothing collected to comply about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820" b="1">
                <a:solidFill>
                  <a:srgbClr val="F2A93E"/>
                </a:solidFill>
                <a:latin typeface="Calibri"/>
              </a:rPr>
              <a:t>• </a:t>
            </a:r>
            <a:r>
              <a:rPr sz="1560">
                <a:solidFill>
                  <a:srgbClr val="0F172A"/>
                </a:solidFill>
                <a:latin typeface="Calibri"/>
              </a:rPr>
              <a:t>License fees — fully open-source stack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334155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170" b="0" i="0">
                <a:solidFill>
                  <a:srgbClr val="334155"/>
                </a:solidFill>
                <a:latin typeface="Calibri"/>
              </a:rPr>
              <a:t>12 / 14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6455664"/>
            <a:ext cx="11064240" cy="31750"/>
          </a:xfrm>
          <a:prstGeom prst="rect">
            <a:avLst/>
          </a:prstGeom>
          <a:solidFill>
            <a:srgbClr val="10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4160" b="1" i="0">
                <a:solidFill>
                  <a:srgbClr val="102444"/>
                </a:solidFill>
                <a:latin typeface="Calibri"/>
              </a:rPr>
              <a:t>Where the group can take this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31750"/>
          </a:xfrm>
          <a:prstGeom prst="rect">
            <a:avLst/>
          </a:prstGeom>
          <a:solidFill>
            <a:srgbClr val="10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20" b="0" i="1">
                <a:solidFill>
                  <a:srgbClr val="334155"/>
                </a:solidFill>
                <a:latin typeface="Calibri"/>
              </a:rPr>
              <a:t>Findings from the build — collaborative work that would unlock the next version.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3657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60" b="1" i="0">
                <a:solidFill>
                  <a:srgbClr val="F2A93E"/>
                </a:solidFill>
                <a:latin typeface="Calibri"/>
              </a:rPr>
              <a:t>DATA PARTNERSHIPS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057400"/>
            <a:ext cx="3657600" cy="3840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35000"/>
              </a:lnSpc>
            </a:pPr>
            <a:r>
              <a:rPr sz="1430" b="1">
                <a:solidFill>
                  <a:srgbClr val="F2A93E"/>
                </a:solidFill>
                <a:latin typeface="Calibri"/>
              </a:rPr>
              <a:t>• </a:t>
            </a:r>
            <a:r>
              <a:rPr sz="1170">
                <a:solidFill>
                  <a:srgbClr val="0F172A"/>
                </a:solidFill>
                <a:latin typeface="Calibri"/>
              </a:rPr>
              <a:t>Ask NCAC for read access to their Trumba master — its 540-event, 16-month window is the most comprehensive feed in the county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430" b="1">
                <a:solidFill>
                  <a:srgbClr val="F2A93E"/>
                </a:solidFill>
                <a:latin typeface="Calibri"/>
              </a:rPr>
              <a:t>• </a:t>
            </a:r>
            <a:r>
              <a:rPr sz="1170">
                <a:solidFill>
                  <a:srgbClr val="0F172A"/>
                </a:solidFill>
                <a:latin typeface="Calibri"/>
              </a:rPr>
              <a:t>Reach out to GoNevadaCounty (gonevadacounty.com) for a public events feed — Cloudflare blocks automated access and we lose the 13 anchor festivals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430" b="1">
                <a:solidFill>
                  <a:srgbClr val="F2A93E"/>
                </a:solidFill>
                <a:latin typeface="Calibri"/>
              </a:rPr>
              <a:t>• </a:t>
            </a:r>
            <a:r>
              <a:rPr sz="1170">
                <a:solidFill>
                  <a:srgbClr val="0F172A"/>
                </a:solidFill>
                <a:latin typeface="Calibri"/>
              </a:rPr>
              <a:t>Coordinate with The Union for a public events feed — articles are paywalled and the RSS often returns nothing usable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430" b="1">
                <a:solidFill>
                  <a:srgbClr val="F2A93E"/>
                </a:solidFill>
                <a:latin typeface="Calibri"/>
              </a:rPr>
              <a:t>• </a:t>
            </a:r>
            <a:r>
              <a:rPr sz="1170">
                <a:solidFill>
                  <a:srgbClr val="0F172A"/>
                </a:solidFill>
                <a:latin typeface="Calibri"/>
              </a:rPr>
              <a:t>Confirm whether the County itself runs a Trumba master calendar — if so, federate from it instead of NCAC alone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691640"/>
            <a:ext cx="3657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60" b="1" i="0">
                <a:solidFill>
                  <a:srgbClr val="F2A93E"/>
                </a:solidFill>
                <a:latin typeface="Calibri"/>
              </a:rPr>
              <a:t>MEMBER OUTREACH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2057400"/>
            <a:ext cx="3657600" cy="3840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35000"/>
              </a:lnSpc>
            </a:pPr>
            <a:r>
              <a:rPr sz="1430" b="1">
                <a:solidFill>
                  <a:srgbClr val="F2A93E"/>
                </a:solidFill>
                <a:latin typeface="Calibri"/>
              </a:rPr>
              <a:t>• </a:t>
            </a:r>
            <a:r>
              <a:rPr sz="1170">
                <a:solidFill>
                  <a:srgbClr val="0F172A"/>
                </a:solidFill>
                <a:latin typeface="Calibri"/>
              </a:rPr>
              <a:t>Encourage venues to publish events on a platform with a public feed — Trumba, Tribe Events (WordPress), Eventbrite — not just static HTML pages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430" b="1">
                <a:solidFill>
                  <a:srgbClr val="F2A93E"/>
                </a:solidFill>
                <a:latin typeface="Calibri"/>
              </a:rPr>
              <a:t>• </a:t>
            </a:r>
            <a:r>
              <a:rPr sz="1170">
                <a:solidFill>
                  <a:srgbClr val="0F172A"/>
                </a:solidFill>
                <a:latin typeface="Calibri"/>
              </a:rPr>
              <a:t>Push schema.org/Event JSON-LD adoption — one snippet on each event page makes auto-importing reliable without custom code per site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430" b="1">
                <a:solidFill>
                  <a:srgbClr val="F2A93E"/>
                </a:solidFill>
                <a:latin typeface="Calibri"/>
              </a:rPr>
              <a:t>• </a:t>
            </a:r>
            <a:r>
              <a:rPr sz="1170">
                <a:solidFill>
                  <a:srgbClr val="0F172A"/>
                </a:solidFill>
                <a:latin typeface="Calibri"/>
              </a:rPr>
              <a:t>Promote the public "Suggest a venue or event" form to members — already wired (footer + admin queue); the lift is socialization, not engineering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430" b="1">
                <a:solidFill>
                  <a:srgbClr val="F2A93E"/>
                </a:solidFill>
                <a:latin typeface="Calibri"/>
              </a:rPr>
              <a:t>• </a:t>
            </a:r>
            <a:r>
              <a:rPr sz="1170">
                <a:solidFill>
                  <a:srgbClr val="0F172A"/>
                </a:solidFill>
                <a:latin typeface="Calibri"/>
              </a:rPr>
              <a:t>Identify the 5-10 venues responsible for the bulk of visitor traffic and prioritize their data reliability over long-tail coverage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1691640"/>
            <a:ext cx="3657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60" b="1" i="0">
                <a:solidFill>
                  <a:srgbClr val="F2A93E"/>
                </a:solidFill>
                <a:latin typeface="Calibri"/>
              </a:rPr>
              <a:t>OPERATIONS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2057400"/>
            <a:ext cx="3657600" cy="3840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30000"/>
              </a:lnSpc>
            </a:pPr>
            <a:r>
              <a:rPr sz="1365" b="1">
                <a:solidFill>
                  <a:srgbClr val="F2A93E"/>
                </a:solidFill>
                <a:latin typeface="Calibri"/>
              </a:rPr>
              <a:t>• </a:t>
            </a:r>
            <a:r>
              <a:rPr sz="1105">
                <a:solidFill>
                  <a:srgbClr val="0F172A"/>
                </a:solidFill>
                <a:latin typeface="Calibri"/>
              </a:rPr>
              <a:t>Schedule the scraper to run nightly via Windows Task Scheduler / cron / systemd — auto-prune of past events is built in but only fires when the scraper runs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365" b="1">
                <a:solidFill>
                  <a:srgbClr val="F2A93E"/>
                </a:solidFill>
                <a:latin typeface="Calibri"/>
              </a:rPr>
              <a:t>• </a:t>
            </a:r>
            <a:r>
              <a:rPr sz="1105">
                <a:solidFill>
                  <a:srgbClr val="0F172A"/>
                </a:solidFill>
                <a:latin typeface="Calibri"/>
              </a:rPr>
              <a:t>Designate a queue curator — someone clears the pending-events queue 1-2x per week (Approve / Dismiss takes ~5 minutes per session)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365" b="1">
                <a:solidFill>
                  <a:srgbClr val="F2A93E"/>
                </a:solidFill>
                <a:latin typeface="Calibri"/>
              </a:rPr>
              <a:t>• </a:t>
            </a:r>
            <a:r>
              <a:rPr sz="1105">
                <a:solidFill>
                  <a:srgbClr val="0F172A"/>
                </a:solidFill>
                <a:latin typeface="Calibri"/>
              </a:rPr>
              <a:t>Click 🧹 Prune Past between scrapes for ad-hoc cleanup — same logic as the auto-prune, useful when events get added or dismissed off-cycle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365" b="1">
                <a:solidFill>
                  <a:srgbClr val="F2A93E"/>
                </a:solidFill>
                <a:latin typeface="Calibri"/>
              </a:rPr>
              <a:t>• </a:t>
            </a:r>
            <a:r>
              <a:rPr sz="1105">
                <a:solidFill>
                  <a:srgbClr val="0F172A"/>
                </a:solidFill>
                <a:latin typeface="Calibri"/>
              </a:rPr>
              <a:t>Run AI Categorize after each refresh — fixes venue, area, tags on long-tail events ($0.50/mo)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365" b="1">
                <a:solidFill>
                  <a:srgbClr val="F2A93E"/>
                </a:solidFill>
                <a:latin typeface="Calibri"/>
              </a:rPr>
              <a:t>• </a:t>
            </a:r>
            <a:r>
              <a:rPr sz="1105">
                <a:solidFill>
                  <a:srgbClr val="0F172A"/>
                </a:solidFill>
                <a:latin typeface="Calibri"/>
              </a:rPr>
              <a:t>Validate "no event" alerts — when a source returns 0 events, it has either gone down or restructured (NCAC was a false negative for months before we caught it)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365" b="1">
                <a:solidFill>
                  <a:srgbClr val="F2A93E"/>
                </a:solidFill>
                <a:latin typeface="Calibri"/>
              </a:rPr>
              <a:t>• </a:t>
            </a:r>
            <a:r>
              <a:rPr sz="1105">
                <a:solidFill>
                  <a:srgbClr val="0F172A"/>
                </a:solidFill>
                <a:latin typeface="Calibri"/>
              </a:rPr>
              <a:t>Quarterly review of disabled sources — vendors change platforms (e.g. NCAC moved to Trumba) and previously-blocked sources become reachable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5943600"/>
            <a:ext cx="11064240" cy="457200"/>
          </a:xfrm>
          <a:prstGeom prst="rect">
            <a:avLst/>
          </a:prstGeom>
          <a:solidFill>
            <a:srgbClr val="F1F5F9"/>
          </a:solidFill>
          <a:ln w="6350">
            <a:solidFill>
              <a:srgbClr val="F2A9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5989320"/>
            <a:ext cx="1088136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300" b="0" i="1">
                <a:solidFill>
                  <a:srgbClr val="102444"/>
                </a:solidFill>
                <a:latin typeface="Calibri"/>
              </a:rPr>
              <a:t>Concrete win from this work:  NCAC's calendar went from "0 events" (blocked by an iframe) to 540 events — by hitting Trumba's JSON feed directly.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334155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170" b="0" i="0">
                <a:solidFill>
                  <a:srgbClr val="334155"/>
                </a:solidFill>
                <a:latin typeface="Calibri"/>
              </a:rPr>
              <a:t>13 / 14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55664"/>
            <a:ext cx="11064240" cy="31750"/>
          </a:xfrm>
          <a:prstGeom prst="rect">
            <a:avLst/>
          </a:prstGeom>
          <a:solidFill>
            <a:srgbClr val="10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102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0" y="0"/>
            <a:ext cx="73152" cy="6858000"/>
          </a:xfrm>
          <a:prstGeom prst="rect">
            <a:avLst/>
          </a:prstGeom>
          <a:solidFill>
            <a:srgbClr val="F2A9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94560"/>
            <a:ext cx="338328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5720" b="1" i="0">
                <a:solidFill>
                  <a:srgbClr val="FFD18C"/>
                </a:solidFill>
                <a:latin typeface="Calibri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108960"/>
            <a:ext cx="338328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860" b="0" i="1">
                <a:solidFill>
                  <a:srgbClr val="FFFFFF"/>
                </a:solidFill>
                <a:latin typeface="Calibri"/>
              </a:rPr>
              <a:t>Questions?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80560" y="2194560"/>
            <a:ext cx="713232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20" b="1" i="0">
                <a:solidFill>
                  <a:srgbClr val="F2A93E"/>
                </a:solidFill>
                <a:latin typeface="Calibri"/>
              </a:rPr>
              <a:t>The leave-behind one-liner</a:t>
            </a:r>
          </a:p>
        </p:txBody>
      </p:sp>
      <p:sp>
        <p:nvSpPr>
          <p:cNvPr id="7" name="Rectangle 6"/>
          <p:cNvSpPr/>
          <p:nvPr/>
        </p:nvSpPr>
        <p:spPr>
          <a:xfrm>
            <a:off x="4480560" y="2606040"/>
            <a:ext cx="6858000" cy="31750"/>
          </a:xfrm>
          <a:prstGeom prst="rect">
            <a:avLst/>
          </a:prstGeom>
          <a:solidFill>
            <a:srgbClr val="10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560" y="2788920"/>
            <a:ext cx="7132320" cy="22860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20" b="0" i="1">
                <a:solidFill>
                  <a:srgbClr val="102444"/>
                </a:solidFill>
                <a:latin typeface="Calibri"/>
              </a:rPr>
              <a:t>"This isn't a website — it's a planning workspace for visitors and a living directory for the chamber, with AI-assisted curation built in. Privacy-respecting by default, owned by the county outright, maintained in minutes per week."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0" y="5120640"/>
            <a:ext cx="7132320" cy="13716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0" i="0">
                <a:solidFill>
                  <a:srgbClr val="334155"/>
                </a:solidFill>
                <a:latin typeface="Consolas"/>
              </a:rPr>
              <a:t>Live demo:  liammlrb-eng.github.io/nevada-county-experiences
Repo:       github.com/liammlrb-eng/nevada-county-experiences
Pitch deck: demo_pitch.pdf  ·  Operator guide: operator_guide.pdf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0" y="411480"/>
            <a:ext cx="38404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170" b="1" i="0">
                <a:solidFill>
                  <a:srgbClr val="F2A93E"/>
                </a:solidFill>
                <a:latin typeface="Calibri"/>
              </a:rPr>
              <a:t>APPENDIX  ·  PULL UP IF ASKED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4160" b="1" i="0">
                <a:solidFill>
                  <a:srgbClr val="102444"/>
                </a:solidFill>
                <a:latin typeface="Calibri"/>
              </a:rPr>
              <a:t>Migration to a county server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78992"/>
            <a:ext cx="11064240" cy="31750"/>
          </a:xfrm>
          <a:prstGeom prst="rect">
            <a:avLst/>
          </a:prstGeom>
          <a:solidFill>
            <a:srgbClr val="10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20" b="0" i="1">
                <a:solidFill>
                  <a:srgbClr val="334155"/>
                </a:solidFill>
                <a:latin typeface="Calibri"/>
              </a:rPr>
              <a:t>One focused half-day for someone comfortable with Linux; two days for a learner.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91640"/>
            <a:ext cx="11064240" cy="384048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737360"/>
            <a:ext cx="132588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1" i="0">
                <a:solidFill>
                  <a:srgbClr val="102444"/>
                </a:solidFill>
                <a:latin typeface="Calibri"/>
              </a:rPr>
              <a:t>Phase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03120" y="1737360"/>
            <a:ext cx="946404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1" i="0">
                <a:solidFill>
                  <a:srgbClr val="102444"/>
                </a:solidFill>
                <a:latin typeface="Calibri"/>
              </a:rPr>
              <a:t>What happens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075688"/>
            <a:ext cx="11064240" cy="31750"/>
          </a:xfrm>
          <a:prstGeom prst="rect">
            <a:avLst/>
          </a:prstGeom>
          <a:solidFill>
            <a:srgbClr val="10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2112264"/>
            <a:ext cx="11064240" cy="36576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157984"/>
            <a:ext cx="13258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Phase 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20" y="2157984"/>
            <a:ext cx="94640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Decisions: hosting (DigitalOcean $6/mo recommended), domain, OS, server account ownership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523744"/>
            <a:ext cx="13258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03120" y="2523744"/>
            <a:ext cx="94640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Pre-flight: domain registered, DNS access, SSH keys ready, Anthropic API key generated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843784"/>
            <a:ext cx="11064240" cy="36576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889504"/>
            <a:ext cx="13258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03120" y="2889504"/>
            <a:ext cx="94640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Provision: $6/mo Ubuntu droplet, lockdown SSH, install Python + nginx + chromium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255264"/>
            <a:ext cx="13258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Phase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03120" y="3255264"/>
            <a:ext cx="94640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Deploy: git clone, Python venv, install deps, drop API keys in the config file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3575304"/>
            <a:ext cx="11064240" cy="36576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3621024"/>
            <a:ext cx="13258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Phase 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03120" y="3621024"/>
            <a:ext cx="94640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systemd service for auto-restart on crash, auto-start on reboot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3986784"/>
            <a:ext cx="13258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Phase 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03120" y="3986784"/>
            <a:ext cx="94640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nginx reverse proxy + Let's Encrypt HTTPS (auto-renew via certbot)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4306824"/>
            <a:ext cx="11064240" cy="36576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4352544"/>
            <a:ext cx="13258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Phase 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03120" y="4352544"/>
            <a:ext cx="94640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Schedule nightly: source refresh at 3 AM + AI categorize at 3:30 AM (refresh triggers auto-prune; skip this step and expired events pile up in the queue)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4718304"/>
            <a:ext cx="13258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Phase 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03120" y="4718304"/>
            <a:ext cx="94640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Backups: provider snapshots ($1/mo) + daily JSON tar to off-site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5038344"/>
            <a:ext cx="11064240" cy="36576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5084064"/>
            <a:ext cx="13258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Phase 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03120" y="5084064"/>
            <a:ext cx="94640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Test checklist: site loads, vibes work, events populate, AI button works, source updates run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5449824"/>
            <a:ext cx="13258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Phase 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103120" y="5449824"/>
            <a:ext cx="94640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Hand-off to chamber: admin URL, billing alerts, cheat sheet, emergency contact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334155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170" b="0" i="0">
                <a:solidFill>
                  <a:srgbClr val="334155"/>
                </a:solidFill>
                <a:latin typeface="Calibri"/>
              </a:rPr>
              <a:t>A1 / A1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" y="6455664"/>
            <a:ext cx="11064240" cy="31750"/>
          </a:xfrm>
          <a:prstGeom prst="rect">
            <a:avLst/>
          </a:prstGeom>
          <a:solidFill>
            <a:srgbClr val="10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